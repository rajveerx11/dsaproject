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678"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DSA_Report_Updated.pdf, p. 1. Source version f162a82a. Visuals are original figures/screenshots from the report. Screenshot details are cropped only for readability.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DSA_Report_Updated.pdf, pp. 3–4. Source version f162a82a. Visuals are original figures/screenshots from the report. Screenshot details are cropped only for readability.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DSA_Report_Updated.pdf, p. 5. Source version f162a82a. Visuals are original figures/screenshots from the report. Screenshot details are cropped only for readability.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DSA_Report_Updated.pdf, p. 6, Figure 1. Source version f162a82a. Visuals are original figures/screenshots from the report. Screenshot details are cropped only for readability.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DSA_Report_Updated.pdf, p. 7, Figure 2. Source version f162a82a. Visuals are original figures/screenshots from the report. Screenshot details are cropped only for readability.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DSA_Report_Updated.pdf, pp. 8–9, 16. Source version f162a82a. Visuals are original figures/screenshots from the report. Screenshot details are cropped only for readability.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DSA_Report_Updated.pdf, p. 10. Source version f162a82a. Visuals are original figures/screenshots from the report. Screenshot details are cropped only for readability.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DSA_Report_Updated.pdf, p. 13, Figure 3. Source version f162a82a. Visuals are original figures/screenshots from the report. Screenshot details are cropped only for readability.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DSA_Report_Updated.pdf, pp. 11–12, 15, Figure 5. Source version f162a82a. Visuals are original figures/screenshots from the report. Screenshot details are cropped only for readability.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DSA_Report_Updated.pdf, pp. 4, 10, 12, 17–19. Source version f162a82a. Visuals are original figures/screenshots from the report. Screenshot details are cropped only for readability.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11B4712F-2BE9-40E2-AF24-46E6C7B3E5D7}"/>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1B14F578-9448-4663-B889-6780A480D55D}"/>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3FDD8FC9-34F6-42B3-B396-BCE7E0DEFD1A}"/>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70B841B8-E9D8-4A1E-8214-559C638CA99C}"/>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07F39887-2D02-4960-85A4-E7AAE9E0E5AD}"/>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14B3895D-C96E-4BB3-AC63-08AF591DEF44}"/>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284E17B7-6ABE-49B2-B127-737B58A05180}"/>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96414A22-6C1B-4392-B127-6E8B1C30C24A}"/>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F4B41821-52AC-4FDE-B4C4-8B2AAD9A2CC7}"/>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F93148EB-8184-47C1-B222-2B6EE23379AC}"/>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52D38"/>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F20DD20-59A7-43E4-89BC-725C21955D6F}"/>
              </a:ext>
            </a:extLst>
          </p:cNvPr>
          <p:cNvSpPr>
            <a:spLocks noGrp="1"/>
          </p:cNvSpPr>
          <p:nvPr/>
        </p:nvSpPr>
        <p:spPr>
          <a:xfrm>
            <a:off x="11125200" y="6629400"/>
            <a:ext cx="476250" cy="228600"/>
          </a:xfrm>
          <a:prstGeom prst="rect">
            <a:avLst/>
          </a:prstGeom>
          <a:noFill/>
          <a:ln w="0">
            <a:noFill/>
            <a:prstDash val="solid"/>
          </a:ln>
        </p:spPr>
        <p:txBody>
          <a:bodyPr lIns="0" tIns="0" rIns="0" bIns="0" anchor="t"/>
          <a:lstStyle>
            <a:defPPr>
              <a:defRPr sz="1200" b="0">
                <a:solidFill>
                  <a:srgbClr val="9AAEB5"/>
                </a:solidFill>
                <a:latin typeface="Arial"/>
                <a:ea typeface="Arial"/>
                <a:cs typeface="Arial"/>
              </a:defRPr>
            </a:defPPr>
          </a:lstStyle>
          <a:p>
            <a:pPr>
              <a:defRPr sz="1200" b="0">
                <a:solidFill>
                  <a:srgbClr val="9AAEB5"/>
                </a:solidFill>
                <a:latin typeface="Arial"/>
                <a:ea typeface="Arial"/>
                <a:cs typeface="Arial"/>
              </a:defRPr>
            </a:pPr>
            <a:r>
              <a:rPr sz="1200" b="0">
                <a:solidFill>
                  <a:srgbClr val="9AAEB5"/>
                </a:solidFill>
                <a:latin typeface="Arial"/>
                <a:ea typeface="Arial"/>
                <a:cs typeface="Arial"/>
              </a:rPr>
              <a:t>01</a:t>
            </a:r>
          </a:p>
        </p:txBody>
      </p:sp>
      <p:sp>
        <p:nvSpPr>
          <p:cNvPr id="2" name="Rectangle 1">
            <a:extLst>
              <a:ext uri="{FF2B5EF4-FFF2-40B4-BE49-F238E27FC236}">
                <a16:creationId xmlns:a16="http://schemas.microsoft.com/office/drawing/2014/main" id="{4CA41221-2FCE-4BF8-B054-1AEC7353FFD3}"/>
              </a:ext>
            </a:extLst>
          </p:cNvPr>
          <p:cNvSpPr>
            <a:spLocks noGrp="1"/>
          </p:cNvSpPr>
          <p:nvPr/>
        </p:nvSpPr>
        <p:spPr>
          <a:xfrm>
            <a:off x="8858250" y="0"/>
            <a:ext cx="3333750" cy="5238750"/>
          </a:xfrm>
          <a:prstGeom prst="rect">
            <a:avLst/>
          </a:prstGeom>
          <a:solidFill>
            <a:srgbClr val="E6F0EC"/>
          </a:solidFill>
          <a:ln w="0">
            <a:noFill/>
            <a:prstDash val="solid"/>
          </a:ln>
        </p:spPr>
      </p:sp>
      <p:sp>
        <p:nvSpPr>
          <p:cNvPr id="3" name="Rectangle 2">
            <a:extLst>
              <a:ext uri="{FF2B5EF4-FFF2-40B4-BE49-F238E27FC236}">
                <a16:creationId xmlns:a16="http://schemas.microsoft.com/office/drawing/2014/main" id="{4CC0A373-B503-4080-A047-AD410B29DADA}"/>
              </a:ext>
            </a:extLst>
          </p:cNvPr>
          <p:cNvSpPr>
            <a:spLocks noGrp="1"/>
          </p:cNvSpPr>
          <p:nvPr/>
        </p:nvSpPr>
        <p:spPr>
          <a:xfrm>
            <a:off x="609600" y="628650"/>
            <a:ext cx="7429500" cy="323850"/>
          </a:xfrm>
          <a:prstGeom prst="rect">
            <a:avLst/>
          </a:prstGeom>
          <a:noFill/>
          <a:ln w="0">
            <a:noFill/>
            <a:prstDash val="solid"/>
          </a:ln>
        </p:spPr>
        <p:txBody>
          <a:bodyPr lIns="0" tIns="0" rIns="0" bIns="0" anchor="t"/>
          <a:lstStyle>
            <a:defPPr>
              <a:defRPr sz="1500" b="1">
                <a:solidFill>
                  <a:srgbClr val="90C5B8"/>
                </a:solidFill>
                <a:latin typeface="Arial"/>
                <a:ea typeface="Arial"/>
                <a:cs typeface="Arial"/>
              </a:defRPr>
            </a:defPPr>
          </a:lstStyle>
          <a:p>
            <a:pPr>
              <a:defRPr sz="1500" b="1">
                <a:solidFill>
                  <a:srgbClr val="90C5B8"/>
                </a:solidFill>
                <a:latin typeface="Arial"/>
                <a:ea typeface="Arial"/>
                <a:cs typeface="Arial"/>
              </a:defRPr>
            </a:pPr>
            <a:r>
              <a:rPr sz="1500" b="1">
                <a:solidFill>
                  <a:srgbClr val="90C5B8"/>
                </a:solidFill>
                <a:latin typeface="Arial"/>
                <a:ea typeface="Arial"/>
                <a:cs typeface="Arial"/>
              </a:rPr>
              <a:t>DSA CA-2 PROJECT</a:t>
            </a:r>
          </a:p>
        </p:txBody>
      </p:sp>
      <p:sp>
        <p:nvSpPr>
          <p:cNvPr id="4" name="Rectangle 3">
            <a:extLst>
              <a:ext uri="{FF2B5EF4-FFF2-40B4-BE49-F238E27FC236}">
                <a16:creationId xmlns:a16="http://schemas.microsoft.com/office/drawing/2014/main" id="{F237694F-7336-43DC-BA6F-C9559D61B5EB}"/>
              </a:ext>
            </a:extLst>
          </p:cNvPr>
          <p:cNvSpPr>
            <a:spLocks noGrp="1"/>
          </p:cNvSpPr>
          <p:nvPr/>
        </p:nvSpPr>
        <p:spPr>
          <a:xfrm>
            <a:off x="609600" y="1545145"/>
            <a:ext cx="7810500" cy="1585912"/>
          </a:xfrm>
          <a:prstGeom prst="rect">
            <a:avLst/>
          </a:prstGeom>
          <a:noFill/>
          <a:ln w="0">
            <a:noFill/>
            <a:prstDash val="solid"/>
          </a:ln>
        </p:spPr>
        <p:txBody>
          <a:bodyPr lIns="0" tIns="0" rIns="0" bIns="0" anchor="t"/>
          <a:lstStyle>
            <a:defPPr>
              <a:defRPr sz="5280" b="1">
                <a:solidFill>
                  <a:srgbClr val="FFFFFF"/>
                </a:solidFill>
                <a:latin typeface="Arial"/>
                <a:ea typeface="Arial"/>
                <a:cs typeface="Arial"/>
              </a:defRPr>
            </a:defPPr>
          </a:lstStyle>
          <a:p>
            <a:pPr>
              <a:defRPr sz="5280" b="1">
                <a:solidFill>
                  <a:srgbClr val="FFFFFF"/>
                </a:solidFill>
                <a:latin typeface="Arial"/>
                <a:ea typeface="Arial"/>
                <a:cs typeface="Arial"/>
              </a:defRPr>
            </a:pPr>
            <a:r>
              <a:rPr sz="5280" b="1">
                <a:solidFill>
                  <a:srgbClr val="FFFFFF"/>
                </a:solidFill>
                <a:latin typeface="Arial"/>
                <a:ea typeface="Arial"/>
                <a:cs typeface="Arial"/>
              </a:rPr>
              <a:t>Music</a:t>
            </a:r>
          </a:p>
          <a:p>
            <a:pPr>
              <a:defRPr sz="5280" b="1">
                <a:solidFill>
                  <a:srgbClr val="FFFFFF"/>
                </a:solidFill>
                <a:latin typeface="Arial"/>
                <a:ea typeface="Arial"/>
                <a:cs typeface="Arial"/>
              </a:defRPr>
            </a:pPr>
            <a:r>
              <a:rPr sz="5280" b="1">
                <a:solidFill>
                  <a:srgbClr val="FFFFFF"/>
                </a:solidFill>
                <a:latin typeface="Arial"/>
                <a:ea typeface="Arial"/>
                <a:cs typeface="Arial"/>
              </a:rPr>
              <a:t>Player</a:t>
            </a:r>
          </a:p>
        </p:txBody>
      </p:sp>
      <p:sp>
        <p:nvSpPr>
          <p:cNvPr id="5" name="Rectangle 4">
            <a:extLst>
              <a:ext uri="{FF2B5EF4-FFF2-40B4-BE49-F238E27FC236}">
                <a16:creationId xmlns:a16="http://schemas.microsoft.com/office/drawing/2014/main" id="{455D200A-E0B5-461F-88FC-384566F9B30C}"/>
              </a:ext>
            </a:extLst>
          </p:cNvPr>
          <p:cNvSpPr>
            <a:spLocks noGrp="1"/>
          </p:cNvSpPr>
          <p:nvPr/>
        </p:nvSpPr>
        <p:spPr>
          <a:xfrm>
            <a:off x="666750" y="3377755"/>
            <a:ext cx="7620000" cy="345376"/>
          </a:xfrm>
          <a:prstGeom prst="rect">
            <a:avLst/>
          </a:prstGeom>
          <a:noFill/>
          <a:ln w="0">
            <a:noFill/>
            <a:prstDash val="solid"/>
          </a:ln>
        </p:spPr>
        <p:txBody>
          <a:bodyPr lIns="0" tIns="0" rIns="0" bIns="0" anchor="t"/>
          <a:lstStyle>
            <a:defPPr>
              <a:defRPr sz="1980" b="0">
                <a:solidFill>
                  <a:srgbClr val="FFFFFF"/>
                </a:solidFill>
                <a:latin typeface="Arial"/>
                <a:ea typeface="Arial"/>
                <a:cs typeface="Arial"/>
              </a:defRPr>
            </a:defPPr>
          </a:lstStyle>
          <a:p>
            <a:pPr>
              <a:defRPr sz="1980" b="0">
                <a:solidFill>
                  <a:srgbClr val="FFFFFF"/>
                </a:solidFill>
                <a:latin typeface="Arial"/>
                <a:ea typeface="Arial"/>
                <a:cs typeface="Arial"/>
              </a:defRPr>
            </a:pPr>
            <a:r>
              <a:rPr sz="1980" b="0">
                <a:solidFill>
                  <a:srgbClr val="FFFFFF"/>
                </a:solidFill>
                <a:latin typeface="Arial"/>
                <a:ea typeface="Arial"/>
                <a:cs typeface="Arial"/>
              </a:rPr>
              <a:t>Musiclab Playlist Manager</a:t>
            </a:r>
          </a:p>
        </p:txBody>
      </p:sp>
      <p:sp>
        <p:nvSpPr>
          <p:cNvPr id="6" name="Rectangle 5">
            <a:extLst>
              <a:ext uri="{FF2B5EF4-FFF2-40B4-BE49-F238E27FC236}">
                <a16:creationId xmlns:a16="http://schemas.microsoft.com/office/drawing/2014/main" id="{E959CBBD-6769-4D40-868D-5B834CF26008}"/>
              </a:ext>
            </a:extLst>
          </p:cNvPr>
          <p:cNvSpPr>
            <a:spLocks noGrp="1"/>
          </p:cNvSpPr>
          <p:nvPr/>
        </p:nvSpPr>
        <p:spPr>
          <a:xfrm>
            <a:off x="666750" y="3786568"/>
            <a:ext cx="7620000" cy="310134"/>
          </a:xfrm>
          <a:prstGeom prst="rect">
            <a:avLst/>
          </a:prstGeom>
          <a:noFill/>
          <a:ln w="0">
            <a:noFill/>
            <a:prstDash val="solid"/>
          </a:ln>
        </p:spPr>
        <p:txBody>
          <a:bodyPr lIns="0" tIns="0" rIns="0" bIns="0" anchor="t"/>
          <a:lstStyle>
            <a:defPPr>
              <a:defRPr sz="1680" b="0">
                <a:solidFill>
                  <a:srgbClr val="BDD1D7"/>
                </a:solidFill>
                <a:latin typeface="Arial"/>
                <a:ea typeface="Arial"/>
                <a:cs typeface="Arial"/>
              </a:defRPr>
            </a:defPPr>
          </a:lstStyle>
          <a:p>
            <a:pPr>
              <a:defRPr sz="1680" b="0">
                <a:solidFill>
                  <a:srgbClr val="BDD1D7"/>
                </a:solidFill>
                <a:latin typeface="Arial"/>
                <a:ea typeface="Arial"/>
                <a:cs typeface="Arial"/>
              </a:defRPr>
            </a:pPr>
            <a:r>
              <a:rPr sz="1680" b="0">
                <a:solidFill>
                  <a:srgbClr val="BDD1D7"/>
                </a:solidFill>
                <a:latin typeface="Arial"/>
                <a:ea typeface="Arial"/>
                <a:cs typeface="Arial"/>
              </a:rPr>
              <a:t>A doubly linked list in C</a:t>
            </a:r>
          </a:p>
        </p:txBody>
      </p:sp>
      <p:sp>
        <p:nvSpPr>
          <p:cNvPr id="7" name="Rectangle 6">
            <a:extLst>
              <a:ext uri="{FF2B5EF4-FFF2-40B4-BE49-F238E27FC236}">
                <a16:creationId xmlns:a16="http://schemas.microsoft.com/office/drawing/2014/main" id="{9D7C518D-EC1E-42BE-860B-DBACDE05CD99}"/>
              </a:ext>
            </a:extLst>
          </p:cNvPr>
          <p:cNvSpPr>
            <a:spLocks noGrp="1"/>
          </p:cNvSpPr>
          <p:nvPr/>
        </p:nvSpPr>
        <p:spPr>
          <a:xfrm>
            <a:off x="666750" y="4526661"/>
            <a:ext cx="7429500" cy="7048"/>
          </a:xfrm>
          <a:prstGeom prst="rect">
            <a:avLst/>
          </a:prstGeom>
          <a:solidFill>
            <a:srgbClr val="3E5560"/>
          </a:solidFill>
          <a:ln w="0">
            <a:noFill/>
            <a:prstDash val="solid"/>
          </a:ln>
        </p:spPr>
      </p:sp>
      <p:sp>
        <p:nvSpPr>
          <p:cNvPr id="8" name="Rectangle 7">
            <a:extLst>
              <a:ext uri="{FF2B5EF4-FFF2-40B4-BE49-F238E27FC236}">
                <a16:creationId xmlns:a16="http://schemas.microsoft.com/office/drawing/2014/main" id="{5BBFE8AA-6CCD-48A9-8818-F84C9E537184}"/>
              </a:ext>
            </a:extLst>
          </p:cNvPr>
          <p:cNvSpPr>
            <a:spLocks noGrp="1"/>
          </p:cNvSpPr>
          <p:nvPr/>
        </p:nvSpPr>
        <p:spPr>
          <a:xfrm>
            <a:off x="666750" y="4695825"/>
            <a:ext cx="7429500" cy="211455"/>
          </a:xfrm>
          <a:prstGeom prst="rect">
            <a:avLst/>
          </a:prstGeom>
          <a:noFill/>
          <a:ln w="0">
            <a:noFill/>
            <a:prstDash val="solid"/>
          </a:ln>
        </p:spPr>
        <p:txBody>
          <a:bodyPr lIns="0" tIns="0" rIns="0" bIns="0" anchor="t"/>
          <a:lstStyle>
            <a:defPPr>
              <a:defRPr sz="1200" b="0">
                <a:solidFill>
                  <a:srgbClr val="BDD1D7"/>
                </a:solidFill>
                <a:latin typeface="Arial"/>
                <a:ea typeface="Arial"/>
                <a:cs typeface="Arial"/>
              </a:defRPr>
            </a:defPPr>
          </a:lstStyle>
          <a:p>
            <a:pPr>
              <a:defRPr sz="1200" b="0">
                <a:solidFill>
                  <a:srgbClr val="BDD1D7"/>
                </a:solidFill>
                <a:latin typeface="Arial"/>
                <a:ea typeface="Arial"/>
                <a:cs typeface="Arial"/>
              </a:defRPr>
            </a:pPr>
            <a:r>
              <a:rPr sz="1200" b="0">
                <a:solidFill>
                  <a:srgbClr val="BDD1D7"/>
                </a:solidFill>
                <a:latin typeface="Arial"/>
                <a:ea typeface="Arial"/>
                <a:cs typeface="Arial"/>
              </a:rPr>
              <a:t>22 October 2026</a:t>
            </a:r>
          </a:p>
        </p:txBody>
      </p:sp>
      <p:sp>
        <p:nvSpPr>
          <p:cNvPr id="9" name="Rectangle 8">
            <a:extLst>
              <a:ext uri="{FF2B5EF4-FFF2-40B4-BE49-F238E27FC236}">
                <a16:creationId xmlns:a16="http://schemas.microsoft.com/office/drawing/2014/main" id="{D7F8389F-49E5-49F5-97AF-22D1AF8A929A}"/>
              </a:ext>
            </a:extLst>
          </p:cNvPr>
          <p:cNvSpPr>
            <a:spLocks noGrp="1"/>
          </p:cNvSpPr>
          <p:nvPr/>
        </p:nvSpPr>
        <p:spPr>
          <a:xfrm>
            <a:off x="9239250" y="1643824"/>
            <a:ext cx="2476500" cy="225552"/>
          </a:xfrm>
          <a:prstGeom prst="rect">
            <a:avLst/>
          </a:prstGeom>
          <a:noFill/>
          <a:ln w="0">
            <a:noFill/>
            <a:prstDash val="solid"/>
          </a:ln>
        </p:spPr>
        <p:txBody>
          <a:bodyPr lIns="0" tIns="0" rIns="0" bIns="0" anchor="t"/>
          <a:lstStyle>
            <a:defPPr>
              <a:defRPr sz="1200" b="0">
                <a:solidFill>
                  <a:srgbClr val="586A70"/>
                </a:solidFill>
                <a:latin typeface="Arial"/>
                <a:ea typeface="Arial"/>
                <a:cs typeface="Arial"/>
              </a:defRPr>
            </a:defPPr>
          </a:lstStyle>
          <a:p>
            <a:pPr>
              <a:defRPr sz="1200" b="0">
                <a:solidFill>
                  <a:srgbClr val="586A70"/>
                </a:solidFill>
                <a:latin typeface="Arial"/>
                <a:ea typeface="Arial"/>
                <a:cs typeface="Arial"/>
              </a:defRPr>
            </a:pPr>
            <a:r>
              <a:rPr sz="1200" b="0">
                <a:solidFill>
                  <a:srgbClr val="586A70"/>
                </a:solidFill>
                <a:latin typeface="Arial"/>
                <a:ea typeface="Arial"/>
                <a:cs typeface="Arial"/>
              </a:rPr>
              <a:t>Presented by</a:t>
            </a:r>
          </a:p>
        </p:txBody>
      </p:sp>
      <p:sp>
        <p:nvSpPr>
          <p:cNvPr id="10" name="Rectangle 9">
            <a:extLst>
              <a:ext uri="{FF2B5EF4-FFF2-40B4-BE49-F238E27FC236}">
                <a16:creationId xmlns:a16="http://schemas.microsoft.com/office/drawing/2014/main" id="{671EA247-F9A1-427D-9259-C07674495390}"/>
              </a:ext>
            </a:extLst>
          </p:cNvPr>
          <p:cNvSpPr>
            <a:spLocks noGrp="1"/>
          </p:cNvSpPr>
          <p:nvPr/>
        </p:nvSpPr>
        <p:spPr>
          <a:xfrm>
            <a:off x="9239250" y="2017395"/>
            <a:ext cx="2571750" cy="845820"/>
          </a:xfrm>
          <a:prstGeom prst="rect">
            <a:avLst/>
          </a:prstGeom>
          <a:noFill/>
          <a:ln w="0">
            <a:noFill/>
            <a:prstDash val="solid"/>
          </a:ln>
        </p:spPr>
        <p:txBody>
          <a:bodyPr lIns="0" tIns="0" rIns="0" bIns="0" anchor="t"/>
          <a:lstStyle>
            <a:defPPr>
              <a:defRPr sz="2340" b="1">
                <a:solidFill>
                  <a:srgbClr val="152D38"/>
                </a:solidFill>
                <a:latin typeface="Arial"/>
                <a:ea typeface="Arial"/>
                <a:cs typeface="Arial"/>
              </a:defRPr>
            </a:defPPr>
          </a:lstStyle>
          <a:p>
            <a:pPr>
              <a:defRPr sz="2340" b="1">
                <a:solidFill>
                  <a:srgbClr val="152D38"/>
                </a:solidFill>
                <a:latin typeface="Arial"/>
                <a:ea typeface="Arial"/>
                <a:cs typeface="Arial"/>
              </a:defRPr>
            </a:pPr>
            <a:r>
              <a:rPr sz="2340" b="1" dirty="0" err="1">
                <a:solidFill>
                  <a:srgbClr val="152D38"/>
                </a:solidFill>
                <a:latin typeface="Arial"/>
                <a:ea typeface="Arial"/>
                <a:cs typeface="Arial"/>
              </a:rPr>
              <a:t>Rajveer</a:t>
            </a:r>
            <a:endParaRPr sz="2340" b="1" dirty="0">
              <a:solidFill>
                <a:srgbClr val="152D38"/>
              </a:solidFill>
              <a:latin typeface="Arial"/>
              <a:ea typeface="Arial"/>
              <a:cs typeface="Arial"/>
            </a:endParaRPr>
          </a:p>
          <a:p>
            <a:pPr>
              <a:defRPr sz="2340" b="1">
                <a:solidFill>
                  <a:srgbClr val="152D38"/>
                </a:solidFill>
                <a:latin typeface="Arial"/>
                <a:ea typeface="Arial"/>
                <a:cs typeface="Arial"/>
              </a:defRPr>
            </a:pPr>
            <a:r>
              <a:rPr sz="2340" b="1" dirty="0" err="1">
                <a:solidFill>
                  <a:srgbClr val="152D38"/>
                </a:solidFill>
                <a:latin typeface="Arial"/>
                <a:ea typeface="Arial"/>
                <a:cs typeface="Arial"/>
              </a:rPr>
              <a:t>Vadnal</a:t>
            </a:r>
            <a:endParaRPr sz="2340" b="1" dirty="0">
              <a:solidFill>
                <a:srgbClr val="152D38"/>
              </a:solidFill>
              <a:latin typeface="Arial"/>
              <a:ea typeface="Arial"/>
              <a:cs typeface="Arial"/>
            </a:endParaRPr>
          </a:p>
        </p:txBody>
      </p:sp>
      <p:sp>
        <p:nvSpPr>
          <p:cNvPr id="11" name="Rectangle 10">
            <a:extLst>
              <a:ext uri="{FF2B5EF4-FFF2-40B4-BE49-F238E27FC236}">
                <a16:creationId xmlns:a16="http://schemas.microsoft.com/office/drawing/2014/main" id="{BB5C6E39-4ADA-4861-96DA-B22EFD6DEDD8}"/>
              </a:ext>
            </a:extLst>
          </p:cNvPr>
          <p:cNvSpPr>
            <a:spLocks noGrp="1"/>
          </p:cNvSpPr>
          <p:nvPr/>
        </p:nvSpPr>
        <p:spPr>
          <a:xfrm>
            <a:off x="9239250" y="2901410"/>
            <a:ext cx="2476500" cy="810577"/>
          </a:xfrm>
          <a:prstGeom prst="rect">
            <a:avLst/>
          </a:prstGeom>
          <a:noFill/>
          <a:ln w="0">
            <a:noFill/>
            <a:prstDash val="solid"/>
          </a:ln>
        </p:spPr>
        <p:txBody>
          <a:bodyPr lIns="0" tIns="0" rIns="0" bIns="0" anchor="t"/>
          <a:lstStyle>
            <a:defPPr>
              <a:defRPr sz="1500" b="0">
                <a:solidFill>
                  <a:srgbClr val="586A70"/>
                </a:solidFill>
                <a:latin typeface="Arial"/>
                <a:ea typeface="Arial"/>
                <a:cs typeface="Arial"/>
              </a:defRPr>
            </a:defPPr>
          </a:lstStyle>
          <a:p>
            <a:pPr>
              <a:defRPr sz="1500" b="0">
                <a:solidFill>
                  <a:srgbClr val="586A70"/>
                </a:solidFill>
                <a:latin typeface="Arial"/>
                <a:ea typeface="Arial"/>
                <a:cs typeface="Arial"/>
              </a:defRPr>
            </a:pPr>
            <a:r>
              <a:rPr sz="1500" b="0" dirty="0" err="1">
                <a:solidFill>
                  <a:srgbClr val="586A70"/>
                </a:solidFill>
                <a:latin typeface="Arial"/>
                <a:ea typeface="Arial"/>
                <a:cs typeface="Arial"/>
              </a:rPr>
              <a:t>BTech</a:t>
            </a:r>
            <a:r>
              <a:rPr sz="1500" b="0" dirty="0">
                <a:solidFill>
                  <a:srgbClr val="586A70"/>
                </a:solidFill>
                <a:latin typeface="Arial"/>
                <a:ea typeface="Arial"/>
                <a:cs typeface="Arial"/>
              </a:rPr>
              <a:t> </a:t>
            </a:r>
            <a:r>
              <a:rPr sz="1500" b="0" dirty="0" smtClean="0">
                <a:solidFill>
                  <a:srgbClr val="586A70"/>
                </a:solidFill>
                <a:latin typeface="Arial"/>
                <a:ea typeface="Arial"/>
                <a:cs typeface="Arial"/>
              </a:rPr>
              <a:t>CSE</a:t>
            </a:r>
            <a:r>
              <a:rPr lang="en-US" sz="1500" b="0" dirty="0" smtClean="0">
                <a:solidFill>
                  <a:srgbClr val="586A70"/>
                </a:solidFill>
                <a:latin typeface="Arial"/>
                <a:ea typeface="Arial"/>
                <a:cs typeface="Arial"/>
              </a:rPr>
              <a:t> - </a:t>
            </a:r>
            <a:r>
              <a:rPr sz="1500" b="0" dirty="0" smtClean="0">
                <a:solidFill>
                  <a:srgbClr val="586A70"/>
                </a:solidFill>
                <a:latin typeface="Arial"/>
                <a:ea typeface="Arial"/>
                <a:cs typeface="Arial"/>
              </a:rPr>
              <a:t>(AI </a:t>
            </a:r>
            <a:r>
              <a:rPr sz="1500" b="0" dirty="0">
                <a:solidFill>
                  <a:srgbClr val="586A70"/>
                </a:solidFill>
                <a:latin typeface="Arial"/>
                <a:ea typeface="Arial"/>
                <a:cs typeface="Arial"/>
              </a:rPr>
              <a:t>&amp; ML</a:t>
            </a:r>
            <a:r>
              <a:rPr sz="1500" b="0" dirty="0" smtClean="0">
                <a:solidFill>
                  <a:srgbClr val="586A70"/>
                </a:solidFill>
                <a:latin typeface="Arial"/>
                <a:ea typeface="Arial"/>
                <a:cs typeface="Arial"/>
              </a:rPr>
              <a:t>)</a:t>
            </a:r>
            <a:endParaRPr lang="en-US" sz="1500" b="0" dirty="0" smtClean="0">
              <a:solidFill>
                <a:srgbClr val="586A70"/>
              </a:solidFill>
              <a:latin typeface="Arial"/>
              <a:ea typeface="Arial"/>
              <a:cs typeface="Arial"/>
            </a:endParaRPr>
          </a:p>
          <a:p>
            <a:pPr>
              <a:defRPr sz="1500" b="0">
                <a:solidFill>
                  <a:srgbClr val="586A70"/>
                </a:solidFill>
                <a:latin typeface="Arial"/>
                <a:ea typeface="Arial"/>
                <a:cs typeface="Arial"/>
              </a:defRPr>
            </a:pPr>
            <a:r>
              <a:rPr lang="en-US" sz="1500" dirty="0" smtClean="0">
                <a:solidFill>
                  <a:srgbClr val="586A70"/>
                </a:solidFill>
                <a:latin typeface="Arial"/>
                <a:ea typeface="Arial"/>
                <a:cs typeface="Arial"/>
              </a:rPr>
              <a:t>26070725501</a:t>
            </a:r>
            <a:endParaRPr sz="1500" b="0" dirty="0">
              <a:solidFill>
                <a:srgbClr val="586A70"/>
              </a:solidFill>
              <a:latin typeface="Arial"/>
              <a:ea typeface="Arial"/>
              <a:cs typeface="Arial"/>
            </a:endParaRPr>
          </a:p>
          <a:p>
            <a:pPr>
              <a:defRPr sz="1500" b="0">
                <a:solidFill>
                  <a:srgbClr val="586A70"/>
                </a:solidFill>
                <a:latin typeface="Arial"/>
                <a:ea typeface="Arial"/>
                <a:cs typeface="Arial"/>
              </a:defRPr>
            </a:pPr>
            <a:r>
              <a:rPr sz="1500" b="0" dirty="0">
                <a:solidFill>
                  <a:srgbClr val="586A70"/>
                </a:solidFill>
                <a:latin typeface="Arial"/>
                <a:ea typeface="Arial"/>
                <a:cs typeface="Arial"/>
              </a:rPr>
              <a:t>3rd Semester</a:t>
            </a:r>
          </a:p>
        </p:txBody>
      </p:sp>
      <p:sp>
        <p:nvSpPr>
          <p:cNvPr id="13" name="Presentation explanation">
            <a:extLst>
              <a:ext uri="{FF2B5EF4-FFF2-40B4-BE49-F238E27FC236}">
                <a16:creationId xmlns:a16="http://schemas.microsoft.com/office/drawing/2014/main" id="{F209669F-9806-42E4-BBF1-6F4053F64A7D}"/>
              </a:ext>
            </a:extLst>
          </p:cNvPr>
          <p:cNvSpPr>
            <a:spLocks noGrp="1"/>
          </p:cNvSpPr>
          <p:nvPr/>
        </p:nvSpPr>
        <p:spPr>
          <a:xfrm>
            <a:off x="609600" y="5534025"/>
            <a:ext cx="10972800" cy="1000125"/>
          </a:xfrm>
          <a:prstGeom prst="rect">
            <a:avLst/>
          </a:prstGeom>
          <a:noFill/>
          <a:ln w="0">
            <a:noFill/>
          </a:ln>
        </p:spPr>
        <p:txBody>
          <a:bodyPr lIns="0" tIns="0" rIns="0" bIns="0" anchor="t"/>
          <a:lstStyle>
            <a:defPPr>
              <a:defRPr sz="1800">
                <a:solidFill>
                  <a:srgbClr val="FFFFFF"/>
                </a:solidFill>
                <a:latin typeface="Arial"/>
                <a:ea typeface="Arial"/>
                <a:cs typeface="Arial"/>
              </a:defRPr>
            </a:defPPr>
          </a:lstStyle>
          <a:p>
            <a:pPr>
              <a:defRPr sz="1800">
                <a:solidFill>
                  <a:srgbClr val="FFFFFF"/>
                </a:solidFill>
                <a:latin typeface="Arial"/>
                <a:ea typeface="Arial"/>
                <a:cs typeface="Arial"/>
              </a:defRPr>
            </a:pPr>
            <a:endParaRPr sz="1800" dirty="0">
              <a:solidFill>
                <a:srgbClr val="FFFFFF"/>
              </a:solidFill>
              <a:latin typeface="Arial"/>
              <a:ea typeface="Arial"/>
              <a:cs typeface="Arial"/>
            </a:endParaRPr>
          </a:p>
        </p:txBody>
      </p:sp>
    </p:spTree>
    <p:extLst>
      <p:ext uri="{BB962C8B-B14F-4D97-AF65-F5344CB8AC3E}">
        <p14:creationId xmlns:p14="http://schemas.microsoft.com/office/powerpoint/2010/main" val="21253382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ADED79B-3EE8-42B7-B808-EA561F3F55D5}"/>
              </a:ext>
            </a:extLst>
          </p:cNvPr>
          <p:cNvSpPr>
            <a:spLocks noGrp="1"/>
          </p:cNvSpPr>
          <p:nvPr/>
        </p:nvSpPr>
        <p:spPr>
          <a:xfrm>
            <a:off x="609600" y="495300"/>
            <a:ext cx="10953750" cy="666750"/>
          </a:xfrm>
          <a:prstGeom prst="rect">
            <a:avLst/>
          </a:prstGeom>
          <a:noFill/>
          <a:ln w="0">
            <a:noFill/>
            <a:prstDash val="solid"/>
          </a:ln>
        </p:spPr>
        <p:txBody>
          <a:bodyPr lIns="0" tIns="0" rIns="0" bIns="0" anchor="t"/>
          <a:lstStyle>
            <a:defPPr>
              <a:defRPr sz="3300" b="1">
                <a:solidFill>
                  <a:srgbClr val="152D38"/>
                </a:solidFill>
                <a:latin typeface="Arial"/>
                <a:ea typeface="Arial"/>
                <a:cs typeface="Arial"/>
              </a:defRPr>
            </a:defPPr>
          </a:lstStyle>
          <a:p>
            <a:pPr>
              <a:defRPr sz="3300" b="1">
                <a:solidFill>
                  <a:srgbClr val="152D38"/>
                </a:solidFill>
                <a:latin typeface="Arial"/>
                <a:ea typeface="Arial"/>
                <a:cs typeface="Arial"/>
              </a:defRPr>
            </a:pPr>
            <a:r>
              <a:rPr sz="3300" b="1">
                <a:solidFill>
                  <a:srgbClr val="152D38"/>
                </a:solidFill>
                <a:latin typeface="Arial"/>
                <a:ea typeface="Arial"/>
                <a:cs typeface="Arial"/>
              </a:rPr>
              <a:t>Introduction &amp; problem</a:t>
            </a:r>
          </a:p>
        </p:txBody>
      </p:sp>
      <p:sp>
        <p:nvSpPr>
          <p:cNvPr id="2" name="Rectangle 1">
            <a:extLst>
              <a:ext uri="{FF2B5EF4-FFF2-40B4-BE49-F238E27FC236}">
                <a16:creationId xmlns:a16="http://schemas.microsoft.com/office/drawing/2014/main" id="{F6B59452-681A-41C8-B271-F702F4FC8499}"/>
              </a:ext>
            </a:extLst>
          </p:cNvPr>
          <p:cNvSpPr>
            <a:spLocks noGrp="1"/>
          </p:cNvSpPr>
          <p:nvPr/>
        </p:nvSpPr>
        <p:spPr>
          <a:xfrm>
            <a:off x="609600" y="1314450"/>
            <a:ext cx="609600" cy="38100"/>
          </a:xfrm>
          <a:prstGeom prst="rect">
            <a:avLst/>
          </a:prstGeom>
          <a:solidFill>
            <a:srgbClr val="16786D"/>
          </a:solidFill>
          <a:ln w="0">
            <a:noFill/>
            <a:prstDash val="solid"/>
          </a:ln>
        </p:spPr>
      </p:sp>
      <p:sp>
        <p:nvSpPr>
          <p:cNvPr id="3" name="Rectangle 2">
            <a:extLst>
              <a:ext uri="{FF2B5EF4-FFF2-40B4-BE49-F238E27FC236}">
                <a16:creationId xmlns:a16="http://schemas.microsoft.com/office/drawing/2014/main" id="{1063565E-309B-4DF4-8B9E-6259E1C5E0F6}"/>
              </a:ext>
            </a:extLst>
          </p:cNvPr>
          <p:cNvSpPr>
            <a:spLocks noGrp="1"/>
          </p:cNvSpPr>
          <p:nvPr/>
        </p:nvSpPr>
        <p:spPr>
          <a:xfrm>
            <a:off x="11125200" y="6629400"/>
            <a:ext cx="476250" cy="228600"/>
          </a:xfrm>
          <a:prstGeom prst="rect">
            <a:avLst/>
          </a:prstGeom>
          <a:noFill/>
          <a:ln w="0">
            <a:noFill/>
            <a:prstDash val="solid"/>
          </a:ln>
        </p:spPr>
        <p:txBody>
          <a:bodyPr lIns="0" tIns="0" rIns="0" bIns="0" anchor="t"/>
          <a:lstStyle>
            <a:defPPr>
              <a:defRPr sz="1200" b="0">
                <a:solidFill>
                  <a:srgbClr val="586A70"/>
                </a:solidFill>
                <a:latin typeface="Arial"/>
                <a:ea typeface="Arial"/>
                <a:cs typeface="Arial"/>
              </a:defRPr>
            </a:defPPr>
          </a:lstStyle>
          <a:p>
            <a:pPr>
              <a:defRPr sz="1200" b="0">
                <a:solidFill>
                  <a:srgbClr val="586A70"/>
                </a:solidFill>
                <a:latin typeface="Arial"/>
                <a:ea typeface="Arial"/>
                <a:cs typeface="Arial"/>
              </a:defRPr>
            </a:pPr>
            <a:r>
              <a:rPr sz="1200" b="0">
                <a:solidFill>
                  <a:srgbClr val="586A70"/>
                </a:solidFill>
                <a:latin typeface="Arial"/>
                <a:ea typeface="Arial"/>
                <a:cs typeface="Arial"/>
              </a:rPr>
              <a:t>02</a:t>
            </a:r>
          </a:p>
        </p:txBody>
      </p:sp>
      <p:sp>
        <p:nvSpPr>
          <p:cNvPr id="4" name="Rectangle 3">
            <a:extLst>
              <a:ext uri="{FF2B5EF4-FFF2-40B4-BE49-F238E27FC236}">
                <a16:creationId xmlns:a16="http://schemas.microsoft.com/office/drawing/2014/main" id="{8D1A712E-025D-40CA-AF7A-ADB58088CB11}"/>
              </a:ext>
            </a:extLst>
          </p:cNvPr>
          <p:cNvSpPr>
            <a:spLocks noGrp="1"/>
          </p:cNvSpPr>
          <p:nvPr/>
        </p:nvSpPr>
        <p:spPr>
          <a:xfrm>
            <a:off x="609600" y="1770697"/>
            <a:ext cx="6477000" cy="1268730"/>
          </a:xfrm>
          <a:prstGeom prst="rect">
            <a:avLst/>
          </a:prstGeom>
          <a:noFill/>
          <a:ln w="0">
            <a:noFill/>
            <a:prstDash val="solid"/>
          </a:ln>
        </p:spPr>
        <p:txBody>
          <a:bodyPr lIns="0" tIns="0" rIns="0" bIns="0" anchor="t"/>
          <a:lstStyle>
            <a:defPPr>
              <a:defRPr sz="2520" b="1">
                <a:solidFill>
                  <a:srgbClr val="152D38"/>
                </a:solidFill>
                <a:latin typeface="Arial"/>
                <a:ea typeface="Arial"/>
                <a:cs typeface="Arial"/>
              </a:defRPr>
            </a:defPPr>
          </a:lstStyle>
          <a:p>
            <a:pPr>
              <a:defRPr sz="2520" b="1">
                <a:solidFill>
                  <a:srgbClr val="152D38"/>
                </a:solidFill>
                <a:latin typeface="Arial"/>
                <a:ea typeface="Arial"/>
                <a:cs typeface="Arial"/>
              </a:defRPr>
            </a:pPr>
            <a:r>
              <a:rPr sz="2520" b="1">
                <a:solidFill>
                  <a:srgbClr val="152D38"/>
                </a:solidFill>
                <a:latin typeface="Arial"/>
                <a:ea typeface="Arial"/>
                <a:cs typeface="Arial"/>
              </a:rPr>
              <a:t>A local playlist manager</a:t>
            </a:r>
          </a:p>
          <a:p>
            <a:pPr>
              <a:defRPr sz="2520" b="1">
                <a:solidFill>
                  <a:srgbClr val="152D38"/>
                </a:solidFill>
                <a:latin typeface="Arial"/>
                <a:ea typeface="Arial"/>
                <a:cs typeface="Arial"/>
              </a:defRPr>
            </a:pPr>
            <a:r>
              <a:rPr sz="2520" b="1">
                <a:solidFill>
                  <a:srgbClr val="152D38"/>
                </a:solidFill>
                <a:latin typeface="Arial"/>
                <a:ea typeface="Arial"/>
                <a:cs typeface="Arial"/>
              </a:rPr>
              <a:t>that makes C pointer</a:t>
            </a:r>
          </a:p>
          <a:p>
            <a:pPr>
              <a:defRPr sz="2520" b="1">
                <a:solidFill>
                  <a:srgbClr val="152D38"/>
                </a:solidFill>
                <a:latin typeface="Arial"/>
                <a:ea typeface="Arial"/>
                <a:cs typeface="Arial"/>
              </a:defRPr>
            </a:pPr>
            <a:r>
              <a:rPr sz="2520" b="1">
                <a:solidFill>
                  <a:srgbClr val="152D38"/>
                </a:solidFill>
                <a:latin typeface="Arial"/>
                <a:ea typeface="Arial"/>
                <a:cs typeface="Arial"/>
              </a:rPr>
              <a:t>operations visible.</a:t>
            </a:r>
          </a:p>
        </p:txBody>
      </p:sp>
      <p:sp>
        <p:nvSpPr>
          <p:cNvPr id="5" name="Rectangle 4">
            <a:extLst>
              <a:ext uri="{FF2B5EF4-FFF2-40B4-BE49-F238E27FC236}">
                <a16:creationId xmlns:a16="http://schemas.microsoft.com/office/drawing/2014/main" id="{E4DDA51E-F7BA-4C89-891A-213E7F0434FD}"/>
              </a:ext>
            </a:extLst>
          </p:cNvPr>
          <p:cNvSpPr>
            <a:spLocks noGrp="1"/>
          </p:cNvSpPr>
          <p:nvPr/>
        </p:nvSpPr>
        <p:spPr>
          <a:xfrm>
            <a:off x="609600" y="3427095"/>
            <a:ext cx="6477000" cy="845820"/>
          </a:xfrm>
          <a:prstGeom prst="rect">
            <a:avLst/>
          </a:prstGeom>
          <a:noFill/>
          <a:ln w="0">
            <a:noFill/>
            <a:prstDash val="solid"/>
          </a:ln>
        </p:spPr>
        <p:txBody>
          <a:bodyPr lIns="0" tIns="0" rIns="0" bIns="0" anchor="t"/>
          <a:lstStyle>
            <a:defPPr>
              <a:defRPr sz="1680" b="0">
                <a:solidFill>
                  <a:srgbClr val="586A70"/>
                </a:solidFill>
                <a:latin typeface="Arial"/>
                <a:ea typeface="Arial"/>
                <a:cs typeface="Arial"/>
              </a:defRPr>
            </a:defPPr>
          </a:lstStyle>
          <a:p>
            <a:pPr>
              <a:defRPr sz="1680" b="0">
                <a:solidFill>
                  <a:srgbClr val="586A70"/>
                </a:solidFill>
                <a:latin typeface="Arial"/>
                <a:ea typeface="Arial"/>
                <a:cs typeface="Arial"/>
              </a:defRPr>
            </a:pPr>
            <a:r>
              <a:rPr sz="1680" b="0">
                <a:solidFill>
                  <a:srgbClr val="586A70"/>
                </a:solidFill>
                <a:latin typeface="Arial"/>
                <a:ea typeface="Arial"/>
                <a:cs typeface="Arial"/>
              </a:rPr>
              <a:t>Side A and Side B support playlist editing,</a:t>
            </a:r>
          </a:p>
          <a:p>
            <a:pPr>
              <a:defRPr sz="1680" b="0">
                <a:solidFill>
                  <a:srgbClr val="586A70"/>
                </a:solidFill>
                <a:latin typeface="Arial"/>
                <a:ea typeface="Arial"/>
                <a:cs typeface="Arial"/>
              </a:defRPr>
            </a:pPr>
            <a:r>
              <a:rPr sz="1680" b="0">
                <a:solidFill>
                  <a:srgbClr val="586A70"/>
                </a:solidFill>
                <a:latin typeface="Arial"/>
                <a:ea typeface="Arial"/>
                <a:cs typeface="Arial"/>
              </a:rPr>
              <a:t>forward / backward navigation and playback.</a:t>
            </a:r>
          </a:p>
        </p:txBody>
      </p:sp>
      <p:sp>
        <p:nvSpPr>
          <p:cNvPr id="6" name="Rectangle 5">
            <a:extLst>
              <a:ext uri="{FF2B5EF4-FFF2-40B4-BE49-F238E27FC236}">
                <a16:creationId xmlns:a16="http://schemas.microsoft.com/office/drawing/2014/main" id="{85EA51A8-1C19-4D1E-B833-A94A5874B070}"/>
              </a:ext>
            </a:extLst>
          </p:cNvPr>
          <p:cNvSpPr>
            <a:spLocks noGrp="1"/>
          </p:cNvSpPr>
          <p:nvPr/>
        </p:nvSpPr>
        <p:spPr>
          <a:xfrm>
            <a:off x="7429500" y="1735455"/>
            <a:ext cx="9525" cy="2889885"/>
          </a:xfrm>
          <a:prstGeom prst="rect">
            <a:avLst/>
          </a:prstGeom>
          <a:solidFill>
            <a:srgbClr val="D9DFDD"/>
          </a:solidFill>
          <a:ln w="0">
            <a:noFill/>
            <a:prstDash val="solid"/>
          </a:ln>
        </p:spPr>
      </p:sp>
      <p:sp>
        <p:nvSpPr>
          <p:cNvPr id="7" name="Rectangle 6">
            <a:extLst>
              <a:ext uri="{FF2B5EF4-FFF2-40B4-BE49-F238E27FC236}">
                <a16:creationId xmlns:a16="http://schemas.microsoft.com/office/drawing/2014/main" id="{E4D40041-47F1-44D7-ABC4-80DC9AE226AC}"/>
              </a:ext>
            </a:extLst>
          </p:cNvPr>
          <p:cNvSpPr>
            <a:spLocks noGrp="1"/>
          </p:cNvSpPr>
          <p:nvPr/>
        </p:nvSpPr>
        <p:spPr>
          <a:xfrm>
            <a:off x="7905750" y="1820036"/>
            <a:ext cx="3676650" cy="310134"/>
          </a:xfrm>
          <a:prstGeom prst="rect">
            <a:avLst/>
          </a:prstGeom>
          <a:noFill/>
          <a:ln w="0">
            <a:noFill/>
            <a:prstDash val="solid"/>
          </a:ln>
        </p:spPr>
        <p:txBody>
          <a:bodyPr lIns="0" tIns="0" rIns="0" bIns="0" anchor="t"/>
          <a:lstStyle>
            <a:defPPr>
              <a:defRPr sz="1620" b="1">
                <a:solidFill>
                  <a:srgbClr val="16786D"/>
                </a:solidFill>
                <a:latin typeface="Arial"/>
                <a:ea typeface="Arial"/>
                <a:cs typeface="Arial"/>
              </a:defRPr>
            </a:defPPr>
          </a:lstStyle>
          <a:p>
            <a:pPr>
              <a:defRPr sz="1620" b="1">
                <a:solidFill>
                  <a:srgbClr val="16786D"/>
                </a:solidFill>
                <a:latin typeface="Arial"/>
                <a:ea typeface="Arial"/>
                <a:cs typeface="Arial"/>
              </a:defRPr>
            </a:pPr>
            <a:r>
              <a:rPr sz="1620" b="1">
                <a:solidFill>
                  <a:srgbClr val="16786D"/>
                </a:solidFill>
                <a:latin typeface="Arial"/>
                <a:ea typeface="Arial"/>
                <a:cs typeface="Arial"/>
              </a:rPr>
              <a:t>The core problem</a:t>
            </a:r>
          </a:p>
        </p:txBody>
      </p:sp>
      <p:sp>
        <p:nvSpPr>
          <p:cNvPr id="8" name="Rectangle 7">
            <a:extLst>
              <a:ext uri="{FF2B5EF4-FFF2-40B4-BE49-F238E27FC236}">
                <a16:creationId xmlns:a16="http://schemas.microsoft.com/office/drawing/2014/main" id="{5C9A0C91-BCB8-42A2-9CB7-A8DDA1FACAB9}"/>
              </a:ext>
            </a:extLst>
          </p:cNvPr>
          <p:cNvSpPr>
            <a:spLocks noGrp="1"/>
          </p:cNvSpPr>
          <p:nvPr/>
        </p:nvSpPr>
        <p:spPr>
          <a:xfrm>
            <a:off x="7905750" y="2278189"/>
            <a:ext cx="3676650" cy="951547"/>
          </a:xfrm>
          <a:prstGeom prst="rect">
            <a:avLst/>
          </a:prstGeom>
          <a:noFill/>
          <a:ln w="0">
            <a:noFill/>
            <a:prstDash val="solid"/>
          </a:ln>
        </p:spPr>
        <p:txBody>
          <a:bodyPr lIns="0" tIns="0" rIns="0" bIns="0" anchor="t"/>
          <a:lstStyle>
            <a:defPPr>
              <a:defRPr sz="1680" b="0">
                <a:solidFill>
                  <a:srgbClr val="152D38"/>
                </a:solidFill>
                <a:latin typeface="Arial"/>
                <a:ea typeface="Arial"/>
                <a:cs typeface="Arial"/>
              </a:defRPr>
            </a:defPPr>
          </a:lstStyle>
          <a:p>
            <a:pPr>
              <a:defRPr sz="1680" b="0">
                <a:solidFill>
                  <a:srgbClr val="152D38"/>
                </a:solidFill>
                <a:latin typeface="Arial"/>
                <a:ea typeface="Arial"/>
                <a:cs typeface="Arial"/>
              </a:defRPr>
            </a:pPr>
            <a:r>
              <a:rPr sz="1680" b="0">
                <a:solidFill>
                  <a:srgbClr val="152D38"/>
                </a:solidFill>
                <a:latin typeface="Arial"/>
                <a:ea typeface="Arial"/>
                <a:cs typeface="Arial"/>
              </a:rPr>
              <a:t>Keep every link, endpoint</a:t>
            </a:r>
          </a:p>
          <a:p>
            <a:pPr>
              <a:defRPr sz="1680" b="0">
                <a:solidFill>
                  <a:srgbClr val="152D38"/>
                </a:solidFill>
                <a:latin typeface="Arial"/>
                <a:ea typeface="Arial"/>
                <a:cs typeface="Arial"/>
              </a:defRPr>
            </a:pPr>
            <a:r>
              <a:rPr sz="1680" b="0">
                <a:solidFill>
                  <a:srgbClr val="152D38"/>
                </a:solidFill>
                <a:latin typeface="Arial"/>
                <a:ea typeface="Arial"/>
                <a:cs typeface="Arial"/>
              </a:rPr>
              <a:t>and selection valid when</a:t>
            </a:r>
          </a:p>
          <a:p>
            <a:pPr>
              <a:defRPr sz="1680" b="0">
                <a:solidFill>
                  <a:srgbClr val="152D38"/>
                </a:solidFill>
                <a:latin typeface="Arial"/>
                <a:ea typeface="Arial"/>
                <a:cs typeface="Arial"/>
              </a:defRPr>
            </a:pPr>
            <a:r>
              <a:rPr sz="1680" b="0">
                <a:solidFill>
                  <a:srgbClr val="152D38"/>
                </a:solidFill>
                <a:latin typeface="Arial"/>
                <a:ea typeface="Arial"/>
                <a:cs typeface="Arial"/>
              </a:rPr>
              <a:t>song order changes.</a:t>
            </a:r>
          </a:p>
        </p:txBody>
      </p:sp>
      <p:sp>
        <p:nvSpPr>
          <p:cNvPr id="9" name="Rectangle 8">
            <a:extLst>
              <a:ext uri="{FF2B5EF4-FFF2-40B4-BE49-F238E27FC236}">
                <a16:creationId xmlns:a16="http://schemas.microsoft.com/office/drawing/2014/main" id="{A8551867-C4C5-42AC-85B8-810FF60E5647}"/>
              </a:ext>
            </a:extLst>
          </p:cNvPr>
          <p:cNvSpPr>
            <a:spLocks noGrp="1"/>
          </p:cNvSpPr>
          <p:nvPr/>
        </p:nvSpPr>
        <p:spPr>
          <a:xfrm>
            <a:off x="7905750" y="3638550"/>
            <a:ext cx="3676650" cy="916305"/>
          </a:xfrm>
          <a:prstGeom prst="rect">
            <a:avLst/>
          </a:prstGeom>
          <a:noFill/>
          <a:ln w="0">
            <a:noFill/>
            <a:prstDash val="solid"/>
          </a:ln>
        </p:spPr>
        <p:txBody>
          <a:bodyPr lIns="0" tIns="0" rIns="0" bIns="0" anchor="t"/>
          <a:lstStyle>
            <a:defPPr>
              <a:defRPr sz="1560" b="0">
                <a:solidFill>
                  <a:srgbClr val="586A70"/>
                </a:solidFill>
                <a:latin typeface="Arial"/>
                <a:ea typeface="Arial"/>
                <a:cs typeface="Arial"/>
              </a:defRPr>
            </a:defPPr>
          </a:lstStyle>
          <a:p>
            <a:pPr>
              <a:defRPr sz="1560" b="0">
                <a:solidFill>
                  <a:srgbClr val="586A70"/>
                </a:solidFill>
                <a:latin typeface="Arial"/>
                <a:ea typeface="Arial"/>
                <a:cs typeface="Arial"/>
              </a:defRPr>
            </a:pPr>
            <a:r>
              <a:rPr sz="1560" b="0">
                <a:solidFill>
                  <a:srgbClr val="586A70"/>
                </a:solidFill>
                <a:latin typeface="Arial"/>
                <a:ea typeface="Arial"/>
                <a:cs typeface="Arial"/>
              </a:rPr>
              <a:t>The browser explains the</a:t>
            </a:r>
          </a:p>
          <a:p>
            <a:pPr>
              <a:defRPr sz="1560" b="0">
                <a:solidFill>
                  <a:srgbClr val="586A70"/>
                </a:solidFill>
                <a:latin typeface="Arial"/>
                <a:ea typeface="Arial"/>
                <a:cs typeface="Arial"/>
              </a:defRPr>
            </a:pPr>
            <a:r>
              <a:rPr sz="1560" b="0">
                <a:solidFill>
                  <a:srgbClr val="586A70"/>
                </a:solidFill>
                <a:latin typeface="Arial"/>
                <a:ea typeface="Arial"/>
                <a:cs typeface="Arial"/>
              </a:rPr>
              <a:t>operations. The C backend</a:t>
            </a:r>
          </a:p>
          <a:p>
            <a:pPr>
              <a:defRPr sz="1560" b="0">
                <a:solidFill>
                  <a:srgbClr val="586A70"/>
                </a:solidFill>
                <a:latin typeface="Arial"/>
                <a:ea typeface="Arial"/>
                <a:cs typeface="Arial"/>
              </a:defRPr>
            </a:pPr>
            <a:r>
              <a:rPr sz="1560" b="0">
                <a:solidFill>
                  <a:srgbClr val="586A70"/>
                </a:solidFill>
                <a:latin typeface="Arial"/>
                <a:ea typeface="Arial"/>
                <a:cs typeface="Arial"/>
              </a:rPr>
              <a:t>owns the playlist state.</a:t>
            </a:r>
          </a:p>
        </p:txBody>
      </p:sp>
      <p:sp>
        <p:nvSpPr>
          <p:cNvPr id="11" name="Presentation explanation">
            <a:extLst>
              <a:ext uri="{FF2B5EF4-FFF2-40B4-BE49-F238E27FC236}">
                <a16:creationId xmlns:a16="http://schemas.microsoft.com/office/drawing/2014/main" id="{C2F6AB97-E65A-4663-9CDF-60F2174C0B9E}"/>
              </a:ext>
            </a:extLst>
          </p:cNvPr>
          <p:cNvSpPr>
            <a:spLocks noGrp="1"/>
          </p:cNvSpPr>
          <p:nvPr/>
        </p:nvSpPr>
        <p:spPr>
          <a:xfrm>
            <a:off x="609600" y="5534025"/>
            <a:ext cx="10972800" cy="1000125"/>
          </a:xfrm>
          <a:prstGeom prst="rect">
            <a:avLst/>
          </a:prstGeom>
          <a:noFill/>
          <a:ln w="0">
            <a:noFill/>
          </a:ln>
        </p:spPr>
        <p:txBody>
          <a:bodyPr lIns="0" tIns="0" rIns="0" bIns="0" anchor="t"/>
          <a:lstStyle>
            <a:defPPr>
              <a:defRPr sz="1800">
                <a:solidFill>
                  <a:srgbClr val="152D38"/>
                </a:solidFill>
                <a:latin typeface="Arial"/>
                <a:ea typeface="Arial"/>
                <a:cs typeface="Arial"/>
              </a:defRPr>
            </a:defPPr>
          </a:lstStyle>
          <a:p>
            <a:pPr>
              <a:defRPr sz="1800">
                <a:solidFill>
                  <a:srgbClr val="152D38"/>
                </a:solidFill>
                <a:latin typeface="Arial"/>
                <a:ea typeface="Arial"/>
                <a:cs typeface="Arial"/>
              </a:defRPr>
            </a:pPr>
            <a:r>
              <a:rPr sz="1800">
                <a:solidFill>
                  <a:srgbClr val="152D38"/>
                </a:solidFill>
                <a:latin typeface="Arial"/>
                <a:ea typeface="Arial"/>
                <a:cs typeface="Arial"/>
              </a:rPr>
              <a:t>A playlist must keep its song order and current selection consistent after every change. This project uses two playlists, Side A and Side B, to demonstrate how linked lists support editing and navigation in both directions.</a:t>
            </a:r>
          </a:p>
        </p:txBody>
      </p:sp>
    </p:spTree>
    <p:extLst>
      <p:ext uri="{BB962C8B-B14F-4D97-AF65-F5344CB8AC3E}">
        <p14:creationId xmlns:p14="http://schemas.microsoft.com/office/powerpoint/2010/main" val="13697373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9023F174-3B78-4442-B198-0C0F696E2C85}"/>
              </a:ext>
            </a:extLst>
          </p:cNvPr>
          <p:cNvSpPr>
            <a:spLocks noGrp="1"/>
          </p:cNvSpPr>
          <p:nvPr/>
        </p:nvSpPr>
        <p:spPr>
          <a:xfrm>
            <a:off x="609600" y="495300"/>
            <a:ext cx="10953750" cy="666750"/>
          </a:xfrm>
          <a:prstGeom prst="rect">
            <a:avLst/>
          </a:prstGeom>
          <a:noFill/>
          <a:ln w="0">
            <a:noFill/>
            <a:prstDash val="solid"/>
          </a:ln>
        </p:spPr>
        <p:txBody>
          <a:bodyPr lIns="0" tIns="0" rIns="0" bIns="0" anchor="t"/>
          <a:lstStyle>
            <a:defPPr>
              <a:defRPr sz="3300" b="1">
                <a:solidFill>
                  <a:srgbClr val="152D38"/>
                </a:solidFill>
                <a:latin typeface="Arial"/>
                <a:ea typeface="Arial"/>
                <a:cs typeface="Arial"/>
              </a:defRPr>
            </a:defPPr>
          </a:lstStyle>
          <a:p>
            <a:pPr>
              <a:defRPr sz="3300" b="1">
                <a:solidFill>
                  <a:srgbClr val="152D38"/>
                </a:solidFill>
                <a:latin typeface="Arial"/>
                <a:ea typeface="Arial"/>
                <a:cs typeface="Arial"/>
              </a:defRPr>
            </a:pPr>
            <a:r>
              <a:rPr sz="3300" b="1">
                <a:solidFill>
                  <a:srgbClr val="152D38"/>
                </a:solidFill>
                <a:latin typeface="Arial"/>
                <a:ea typeface="Arial"/>
                <a:cs typeface="Arial"/>
              </a:rPr>
              <a:t>Project objectives</a:t>
            </a:r>
          </a:p>
        </p:txBody>
      </p:sp>
      <p:sp>
        <p:nvSpPr>
          <p:cNvPr id="2" name="Rectangle 1">
            <a:extLst>
              <a:ext uri="{FF2B5EF4-FFF2-40B4-BE49-F238E27FC236}">
                <a16:creationId xmlns:a16="http://schemas.microsoft.com/office/drawing/2014/main" id="{18609D82-B596-4778-AD50-FC8A376893CD}"/>
              </a:ext>
            </a:extLst>
          </p:cNvPr>
          <p:cNvSpPr>
            <a:spLocks noGrp="1"/>
          </p:cNvSpPr>
          <p:nvPr/>
        </p:nvSpPr>
        <p:spPr>
          <a:xfrm>
            <a:off x="609600" y="1314450"/>
            <a:ext cx="609600" cy="38100"/>
          </a:xfrm>
          <a:prstGeom prst="rect">
            <a:avLst/>
          </a:prstGeom>
          <a:solidFill>
            <a:srgbClr val="16786D"/>
          </a:solidFill>
          <a:ln w="0">
            <a:noFill/>
            <a:prstDash val="solid"/>
          </a:ln>
        </p:spPr>
      </p:sp>
      <p:sp>
        <p:nvSpPr>
          <p:cNvPr id="3" name="Rectangle 2">
            <a:extLst>
              <a:ext uri="{FF2B5EF4-FFF2-40B4-BE49-F238E27FC236}">
                <a16:creationId xmlns:a16="http://schemas.microsoft.com/office/drawing/2014/main" id="{BFFEDDF4-DC39-4BD8-9FB7-701FCBBA109A}"/>
              </a:ext>
            </a:extLst>
          </p:cNvPr>
          <p:cNvSpPr>
            <a:spLocks noGrp="1"/>
          </p:cNvSpPr>
          <p:nvPr/>
        </p:nvSpPr>
        <p:spPr>
          <a:xfrm>
            <a:off x="11125200" y="6629400"/>
            <a:ext cx="476250" cy="228600"/>
          </a:xfrm>
          <a:prstGeom prst="rect">
            <a:avLst/>
          </a:prstGeom>
          <a:noFill/>
          <a:ln w="0">
            <a:noFill/>
            <a:prstDash val="solid"/>
          </a:ln>
        </p:spPr>
        <p:txBody>
          <a:bodyPr lIns="0" tIns="0" rIns="0" bIns="0" anchor="t"/>
          <a:lstStyle>
            <a:defPPr>
              <a:defRPr sz="1200" b="0">
                <a:solidFill>
                  <a:srgbClr val="586A70"/>
                </a:solidFill>
                <a:latin typeface="Arial"/>
                <a:ea typeface="Arial"/>
                <a:cs typeface="Arial"/>
              </a:defRPr>
            </a:defPPr>
          </a:lstStyle>
          <a:p>
            <a:pPr>
              <a:defRPr sz="1200" b="0">
                <a:solidFill>
                  <a:srgbClr val="586A70"/>
                </a:solidFill>
                <a:latin typeface="Arial"/>
                <a:ea typeface="Arial"/>
                <a:cs typeface="Arial"/>
              </a:defRPr>
            </a:pPr>
            <a:r>
              <a:rPr sz="1200" b="0">
                <a:solidFill>
                  <a:srgbClr val="586A70"/>
                </a:solidFill>
                <a:latin typeface="Arial"/>
                <a:ea typeface="Arial"/>
                <a:cs typeface="Arial"/>
              </a:rPr>
              <a:t>03</a:t>
            </a:r>
          </a:p>
        </p:txBody>
      </p:sp>
      <p:sp>
        <p:nvSpPr>
          <p:cNvPr id="4" name="Rectangle 3">
            <a:extLst>
              <a:ext uri="{FF2B5EF4-FFF2-40B4-BE49-F238E27FC236}">
                <a16:creationId xmlns:a16="http://schemas.microsoft.com/office/drawing/2014/main" id="{E525E4FF-D7BA-40CE-8605-0DBC415F3748}"/>
              </a:ext>
            </a:extLst>
          </p:cNvPr>
          <p:cNvSpPr>
            <a:spLocks noGrp="1"/>
          </p:cNvSpPr>
          <p:nvPr/>
        </p:nvSpPr>
        <p:spPr>
          <a:xfrm>
            <a:off x="609600" y="1735455"/>
            <a:ext cx="800100" cy="422910"/>
          </a:xfrm>
          <a:prstGeom prst="rect">
            <a:avLst/>
          </a:prstGeom>
          <a:noFill/>
          <a:ln w="0">
            <a:noFill/>
            <a:prstDash val="solid"/>
          </a:ln>
        </p:spPr>
        <p:txBody>
          <a:bodyPr lIns="0" tIns="0" rIns="0" bIns="0" anchor="t"/>
          <a:lstStyle>
            <a:defPPr>
              <a:defRPr sz="2160" b="1">
                <a:solidFill>
                  <a:srgbClr val="16786D"/>
                </a:solidFill>
                <a:latin typeface="Arial"/>
                <a:ea typeface="Arial"/>
                <a:cs typeface="Arial"/>
              </a:defRPr>
            </a:defPPr>
          </a:lstStyle>
          <a:p>
            <a:pPr>
              <a:defRPr sz="2160" b="1">
                <a:solidFill>
                  <a:srgbClr val="16786D"/>
                </a:solidFill>
                <a:latin typeface="Arial"/>
                <a:ea typeface="Arial"/>
                <a:cs typeface="Arial"/>
              </a:defRPr>
            </a:pPr>
            <a:r>
              <a:rPr sz="2160" b="1">
                <a:solidFill>
                  <a:srgbClr val="16786D"/>
                </a:solidFill>
                <a:latin typeface="Arial"/>
                <a:ea typeface="Arial"/>
                <a:cs typeface="Arial"/>
              </a:rPr>
              <a:t>01</a:t>
            </a:r>
          </a:p>
        </p:txBody>
      </p:sp>
      <p:sp>
        <p:nvSpPr>
          <p:cNvPr id="5" name="Rectangle 4">
            <a:extLst>
              <a:ext uri="{FF2B5EF4-FFF2-40B4-BE49-F238E27FC236}">
                <a16:creationId xmlns:a16="http://schemas.microsoft.com/office/drawing/2014/main" id="{108BE9AB-F17B-41CF-9694-F63D1C9FBA15}"/>
              </a:ext>
            </a:extLst>
          </p:cNvPr>
          <p:cNvSpPr>
            <a:spLocks noGrp="1"/>
          </p:cNvSpPr>
          <p:nvPr/>
        </p:nvSpPr>
        <p:spPr>
          <a:xfrm>
            <a:off x="1562100" y="1735455"/>
            <a:ext cx="3524250" cy="563880"/>
          </a:xfrm>
          <a:prstGeom prst="rect">
            <a:avLst/>
          </a:prstGeom>
          <a:noFill/>
          <a:ln w="0">
            <a:noFill/>
            <a:prstDash val="solid"/>
          </a:ln>
        </p:spPr>
        <p:txBody>
          <a:bodyPr lIns="0" tIns="0" rIns="0" bIns="0" anchor="t"/>
          <a:lstStyle>
            <a:defPPr>
              <a:defRPr sz="1800" b="1">
                <a:solidFill>
                  <a:srgbClr val="152D38"/>
                </a:solidFill>
                <a:latin typeface="Arial"/>
                <a:ea typeface="Arial"/>
                <a:cs typeface="Arial"/>
              </a:defRPr>
            </a:defPPr>
          </a:lstStyle>
          <a:p>
            <a:pPr>
              <a:defRPr sz="1800" b="1">
                <a:solidFill>
                  <a:srgbClr val="152D38"/>
                </a:solidFill>
                <a:latin typeface="Arial"/>
                <a:ea typeface="Arial"/>
                <a:cs typeface="Arial"/>
              </a:defRPr>
            </a:pPr>
            <a:r>
              <a:rPr sz="1800" b="1">
                <a:solidFill>
                  <a:srgbClr val="152D38"/>
                </a:solidFill>
                <a:latin typeface="Arial"/>
                <a:ea typeface="Arial"/>
                <a:cs typeface="Arial"/>
              </a:rPr>
              <a:t>Implement the operations</a:t>
            </a:r>
          </a:p>
        </p:txBody>
      </p:sp>
      <p:sp>
        <p:nvSpPr>
          <p:cNvPr id="6" name="Rectangle 5">
            <a:extLst>
              <a:ext uri="{FF2B5EF4-FFF2-40B4-BE49-F238E27FC236}">
                <a16:creationId xmlns:a16="http://schemas.microsoft.com/office/drawing/2014/main" id="{FDBC65BC-6B26-4537-80ED-13A028E65207}"/>
              </a:ext>
            </a:extLst>
          </p:cNvPr>
          <p:cNvSpPr>
            <a:spLocks noGrp="1"/>
          </p:cNvSpPr>
          <p:nvPr/>
        </p:nvSpPr>
        <p:spPr>
          <a:xfrm>
            <a:off x="5334000" y="1735455"/>
            <a:ext cx="6096000" cy="775335"/>
          </a:xfrm>
          <a:prstGeom prst="rect">
            <a:avLst/>
          </a:prstGeom>
          <a:noFill/>
          <a:ln w="0">
            <a:noFill/>
            <a:prstDash val="solid"/>
          </a:ln>
        </p:spPr>
        <p:txBody>
          <a:bodyPr lIns="0" tIns="0" rIns="0" bIns="0" anchor="t"/>
          <a:lstStyle>
            <a:defPPr>
              <a:defRPr sz="1620" b="0">
                <a:solidFill>
                  <a:srgbClr val="586A70"/>
                </a:solidFill>
                <a:latin typeface="Arial"/>
                <a:ea typeface="Arial"/>
                <a:cs typeface="Arial"/>
              </a:defRPr>
            </a:defPPr>
          </a:lstStyle>
          <a:p>
            <a:pPr>
              <a:defRPr sz="1620" b="0">
                <a:solidFill>
                  <a:srgbClr val="586A70"/>
                </a:solidFill>
                <a:latin typeface="Arial"/>
                <a:ea typeface="Arial"/>
                <a:cs typeface="Arial"/>
              </a:defRPr>
            </a:pPr>
            <a:r>
              <a:rPr sz="1620" b="0">
                <a:solidFill>
                  <a:srgbClr val="586A70"/>
                </a:solidFill>
                <a:latin typeface="Arial"/>
                <a:ea typeface="Arial"/>
                <a:cs typeface="Arial"/>
              </a:rPr>
              <a:t>Append, select, delete, navigate, reverse</a:t>
            </a:r>
          </a:p>
          <a:p>
            <a:pPr>
              <a:defRPr sz="1620" b="0">
                <a:solidFill>
                  <a:srgbClr val="586A70"/>
                </a:solidFill>
                <a:latin typeface="Arial"/>
                <a:ea typeface="Arial"/>
                <a:cs typeface="Arial"/>
              </a:defRPr>
            </a:pPr>
            <a:r>
              <a:rPr sz="1620" b="0">
                <a:solidFill>
                  <a:srgbClr val="586A70"/>
                </a:solidFill>
                <a:latin typeface="Arial"/>
                <a:ea typeface="Arial"/>
                <a:cs typeface="Arial"/>
              </a:rPr>
              <a:t>and concatenate songs safely.</a:t>
            </a:r>
          </a:p>
        </p:txBody>
      </p:sp>
      <p:sp>
        <p:nvSpPr>
          <p:cNvPr id="7" name="Rectangle 6">
            <a:extLst>
              <a:ext uri="{FF2B5EF4-FFF2-40B4-BE49-F238E27FC236}">
                <a16:creationId xmlns:a16="http://schemas.microsoft.com/office/drawing/2014/main" id="{0783A50E-6EF1-4B92-9C55-79B6AE7C4F40}"/>
              </a:ext>
            </a:extLst>
          </p:cNvPr>
          <p:cNvSpPr>
            <a:spLocks noGrp="1"/>
          </p:cNvSpPr>
          <p:nvPr/>
        </p:nvSpPr>
        <p:spPr>
          <a:xfrm>
            <a:off x="1562100" y="2468498"/>
            <a:ext cx="9867900" cy="7048"/>
          </a:xfrm>
          <a:prstGeom prst="rect">
            <a:avLst/>
          </a:prstGeom>
          <a:solidFill>
            <a:srgbClr val="D9DFDD"/>
          </a:solidFill>
          <a:ln w="0">
            <a:noFill/>
            <a:prstDash val="solid"/>
          </a:ln>
        </p:spPr>
      </p:sp>
      <p:sp>
        <p:nvSpPr>
          <p:cNvPr id="8" name="Rectangle 7">
            <a:extLst>
              <a:ext uri="{FF2B5EF4-FFF2-40B4-BE49-F238E27FC236}">
                <a16:creationId xmlns:a16="http://schemas.microsoft.com/office/drawing/2014/main" id="{FBC99511-66CE-4F35-A906-EA2D4E7762B2}"/>
              </a:ext>
            </a:extLst>
          </p:cNvPr>
          <p:cNvSpPr>
            <a:spLocks noGrp="1"/>
          </p:cNvSpPr>
          <p:nvPr/>
        </p:nvSpPr>
        <p:spPr>
          <a:xfrm>
            <a:off x="609600" y="2792730"/>
            <a:ext cx="800100" cy="422910"/>
          </a:xfrm>
          <a:prstGeom prst="rect">
            <a:avLst/>
          </a:prstGeom>
          <a:noFill/>
          <a:ln w="0">
            <a:noFill/>
            <a:prstDash val="solid"/>
          </a:ln>
        </p:spPr>
        <p:txBody>
          <a:bodyPr lIns="0" tIns="0" rIns="0" bIns="0" anchor="t"/>
          <a:lstStyle>
            <a:defPPr>
              <a:defRPr sz="2160" b="1">
                <a:solidFill>
                  <a:srgbClr val="16786D"/>
                </a:solidFill>
                <a:latin typeface="Arial"/>
                <a:ea typeface="Arial"/>
                <a:cs typeface="Arial"/>
              </a:defRPr>
            </a:defPPr>
          </a:lstStyle>
          <a:p>
            <a:pPr>
              <a:defRPr sz="2160" b="1">
                <a:solidFill>
                  <a:srgbClr val="16786D"/>
                </a:solidFill>
                <a:latin typeface="Arial"/>
                <a:ea typeface="Arial"/>
                <a:cs typeface="Arial"/>
              </a:defRPr>
            </a:pPr>
            <a:r>
              <a:rPr sz="2160" b="1">
                <a:solidFill>
                  <a:srgbClr val="16786D"/>
                </a:solidFill>
                <a:latin typeface="Arial"/>
                <a:ea typeface="Arial"/>
                <a:cs typeface="Arial"/>
              </a:rPr>
              <a:t>02</a:t>
            </a:r>
          </a:p>
        </p:txBody>
      </p:sp>
      <p:sp>
        <p:nvSpPr>
          <p:cNvPr id="9" name="Rectangle 8">
            <a:extLst>
              <a:ext uri="{FF2B5EF4-FFF2-40B4-BE49-F238E27FC236}">
                <a16:creationId xmlns:a16="http://schemas.microsoft.com/office/drawing/2014/main" id="{0FD9CE90-3C37-49BB-A5A4-A4884F2A8A95}"/>
              </a:ext>
            </a:extLst>
          </p:cNvPr>
          <p:cNvSpPr>
            <a:spLocks noGrp="1"/>
          </p:cNvSpPr>
          <p:nvPr/>
        </p:nvSpPr>
        <p:spPr>
          <a:xfrm>
            <a:off x="1562100" y="2792730"/>
            <a:ext cx="3524250" cy="563880"/>
          </a:xfrm>
          <a:prstGeom prst="rect">
            <a:avLst/>
          </a:prstGeom>
          <a:noFill/>
          <a:ln w="0">
            <a:noFill/>
            <a:prstDash val="solid"/>
          </a:ln>
        </p:spPr>
        <p:txBody>
          <a:bodyPr lIns="0" tIns="0" rIns="0" bIns="0" anchor="t"/>
          <a:lstStyle>
            <a:defPPr>
              <a:defRPr sz="1800" b="1">
                <a:solidFill>
                  <a:srgbClr val="152D38"/>
                </a:solidFill>
                <a:latin typeface="Arial"/>
                <a:ea typeface="Arial"/>
                <a:cs typeface="Arial"/>
              </a:defRPr>
            </a:defPPr>
          </a:lstStyle>
          <a:p>
            <a:pPr>
              <a:defRPr sz="1800" b="1">
                <a:solidFill>
                  <a:srgbClr val="152D38"/>
                </a:solidFill>
                <a:latin typeface="Arial"/>
                <a:ea typeface="Arial"/>
                <a:cs typeface="Arial"/>
              </a:defRPr>
            </a:pPr>
            <a:r>
              <a:rPr sz="1800" b="1">
                <a:solidFill>
                  <a:srgbClr val="152D38"/>
                </a:solidFill>
                <a:latin typeface="Arial"/>
                <a:ea typeface="Arial"/>
                <a:cs typeface="Arial"/>
              </a:rPr>
              <a:t>Explain pointer changes</a:t>
            </a:r>
          </a:p>
        </p:txBody>
      </p:sp>
      <p:sp>
        <p:nvSpPr>
          <p:cNvPr id="10" name="Rectangle 9">
            <a:extLst>
              <a:ext uri="{FF2B5EF4-FFF2-40B4-BE49-F238E27FC236}">
                <a16:creationId xmlns:a16="http://schemas.microsoft.com/office/drawing/2014/main" id="{313729E3-BF28-4826-ABC8-EA40224D89A7}"/>
              </a:ext>
            </a:extLst>
          </p:cNvPr>
          <p:cNvSpPr>
            <a:spLocks noGrp="1"/>
          </p:cNvSpPr>
          <p:nvPr/>
        </p:nvSpPr>
        <p:spPr>
          <a:xfrm>
            <a:off x="5334000" y="2792730"/>
            <a:ext cx="6096000" cy="775335"/>
          </a:xfrm>
          <a:prstGeom prst="rect">
            <a:avLst/>
          </a:prstGeom>
          <a:noFill/>
          <a:ln w="0">
            <a:noFill/>
            <a:prstDash val="solid"/>
          </a:ln>
        </p:spPr>
        <p:txBody>
          <a:bodyPr lIns="0" tIns="0" rIns="0" bIns="0" anchor="t"/>
          <a:lstStyle>
            <a:defPPr>
              <a:defRPr sz="1620" b="0">
                <a:solidFill>
                  <a:srgbClr val="586A70"/>
                </a:solidFill>
                <a:latin typeface="Arial"/>
                <a:ea typeface="Arial"/>
                <a:cs typeface="Arial"/>
              </a:defRPr>
            </a:defPPr>
          </a:lstStyle>
          <a:p>
            <a:pPr>
              <a:defRPr sz="1620" b="0">
                <a:solidFill>
                  <a:srgbClr val="586A70"/>
                </a:solidFill>
                <a:latin typeface="Arial"/>
                <a:ea typeface="Arial"/>
                <a:cs typeface="Arial"/>
              </a:defRPr>
            </a:pPr>
            <a:r>
              <a:rPr sz="1620" b="0">
                <a:solidFill>
                  <a:srgbClr val="586A70"/>
                </a:solidFill>
                <a:latin typeface="Arial"/>
                <a:ea typeface="Arial"/>
                <a:cs typeface="Arial"/>
              </a:rPr>
              <a:t>Use the Simulation view to replay recorded</a:t>
            </a:r>
          </a:p>
          <a:p>
            <a:pPr>
              <a:defRPr sz="1620" b="0">
                <a:solidFill>
                  <a:srgbClr val="586A70"/>
                </a:solidFill>
                <a:latin typeface="Arial"/>
                <a:ea typeface="Arial"/>
                <a:cs typeface="Arial"/>
              </a:defRPr>
            </a:pPr>
            <a:r>
              <a:rPr sz="1620" b="0">
                <a:solidFill>
                  <a:srgbClr val="586A70"/>
                </a:solidFill>
                <a:latin typeface="Arial"/>
                <a:ea typeface="Arial"/>
                <a:cs typeface="Arial"/>
              </a:rPr>
              <a:t>allocations, visits, link changes and frees.</a:t>
            </a:r>
          </a:p>
        </p:txBody>
      </p:sp>
      <p:sp>
        <p:nvSpPr>
          <p:cNvPr id="11" name="Rectangle 10">
            <a:extLst>
              <a:ext uri="{FF2B5EF4-FFF2-40B4-BE49-F238E27FC236}">
                <a16:creationId xmlns:a16="http://schemas.microsoft.com/office/drawing/2014/main" id="{F5B1FC0E-DEFA-485C-9C82-AD2390F4A8C7}"/>
              </a:ext>
            </a:extLst>
          </p:cNvPr>
          <p:cNvSpPr>
            <a:spLocks noGrp="1"/>
          </p:cNvSpPr>
          <p:nvPr/>
        </p:nvSpPr>
        <p:spPr>
          <a:xfrm>
            <a:off x="1562100" y="3525773"/>
            <a:ext cx="9867900" cy="7048"/>
          </a:xfrm>
          <a:prstGeom prst="rect">
            <a:avLst/>
          </a:prstGeom>
          <a:solidFill>
            <a:srgbClr val="D9DFDD"/>
          </a:solidFill>
          <a:ln w="0">
            <a:noFill/>
            <a:prstDash val="solid"/>
          </a:ln>
        </p:spPr>
      </p:sp>
      <p:sp>
        <p:nvSpPr>
          <p:cNvPr id="12" name="Rectangle 11">
            <a:extLst>
              <a:ext uri="{FF2B5EF4-FFF2-40B4-BE49-F238E27FC236}">
                <a16:creationId xmlns:a16="http://schemas.microsoft.com/office/drawing/2014/main" id="{103EE91F-A701-45B8-9922-A1F00E695A4C}"/>
              </a:ext>
            </a:extLst>
          </p:cNvPr>
          <p:cNvSpPr>
            <a:spLocks noGrp="1"/>
          </p:cNvSpPr>
          <p:nvPr/>
        </p:nvSpPr>
        <p:spPr>
          <a:xfrm>
            <a:off x="609600" y="3850005"/>
            <a:ext cx="800100" cy="422910"/>
          </a:xfrm>
          <a:prstGeom prst="rect">
            <a:avLst/>
          </a:prstGeom>
          <a:noFill/>
          <a:ln w="0">
            <a:noFill/>
            <a:prstDash val="solid"/>
          </a:ln>
        </p:spPr>
        <p:txBody>
          <a:bodyPr lIns="0" tIns="0" rIns="0" bIns="0" anchor="t"/>
          <a:lstStyle>
            <a:defPPr>
              <a:defRPr sz="2160" b="1">
                <a:solidFill>
                  <a:srgbClr val="16786D"/>
                </a:solidFill>
                <a:latin typeface="Arial"/>
                <a:ea typeface="Arial"/>
                <a:cs typeface="Arial"/>
              </a:defRPr>
            </a:defPPr>
          </a:lstStyle>
          <a:p>
            <a:pPr>
              <a:defRPr sz="2160" b="1">
                <a:solidFill>
                  <a:srgbClr val="16786D"/>
                </a:solidFill>
                <a:latin typeface="Arial"/>
                <a:ea typeface="Arial"/>
                <a:cs typeface="Arial"/>
              </a:defRPr>
            </a:pPr>
            <a:r>
              <a:rPr sz="2160" b="1">
                <a:solidFill>
                  <a:srgbClr val="16786D"/>
                </a:solidFill>
                <a:latin typeface="Arial"/>
                <a:ea typeface="Arial"/>
                <a:cs typeface="Arial"/>
              </a:rPr>
              <a:t>03</a:t>
            </a:r>
          </a:p>
        </p:txBody>
      </p:sp>
      <p:sp>
        <p:nvSpPr>
          <p:cNvPr id="13" name="Rectangle 12">
            <a:extLst>
              <a:ext uri="{FF2B5EF4-FFF2-40B4-BE49-F238E27FC236}">
                <a16:creationId xmlns:a16="http://schemas.microsoft.com/office/drawing/2014/main" id="{390BEDAD-33F1-4568-9A19-47DD269AA7CC}"/>
              </a:ext>
            </a:extLst>
          </p:cNvPr>
          <p:cNvSpPr>
            <a:spLocks noGrp="1"/>
          </p:cNvSpPr>
          <p:nvPr/>
        </p:nvSpPr>
        <p:spPr>
          <a:xfrm>
            <a:off x="1562100" y="3850005"/>
            <a:ext cx="3524250" cy="563880"/>
          </a:xfrm>
          <a:prstGeom prst="rect">
            <a:avLst/>
          </a:prstGeom>
          <a:noFill/>
          <a:ln w="0">
            <a:noFill/>
            <a:prstDash val="solid"/>
          </a:ln>
        </p:spPr>
        <p:txBody>
          <a:bodyPr lIns="0" tIns="0" rIns="0" bIns="0" anchor="t"/>
          <a:lstStyle>
            <a:defPPr>
              <a:defRPr sz="1800" b="1">
                <a:solidFill>
                  <a:srgbClr val="152D38"/>
                </a:solidFill>
                <a:latin typeface="Arial"/>
                <a:ea typeface="Arial"/>
                <a:cs typeface="Arial"/>
              </a:defRPr>
            </a:defPPr>
          </a:lstStyle>
          <a:p>
            <a:pPr>
              <a:defRPr sz="1800" b="1">
                <a:solidFill>
                  <a:srgbClr val="152D38"/>
                </a:solidFill>
                <a:latin typeface="Arial"/>
                <a:ea typeface="Arial"/>
                <a:cs typeface="Arial"/>
              </a:defRPr>
            </a:pPr>
            <a:r>
              <a:rPr sz="1800" b="1">
                <a:solidFill>
                  <a:srgbClr val="152D38"/>
                </a:solidFill>
                <a:latin typeface="Arial"/>
                <a:ea typeface="Arial"/>
                <a:cs typeface="Arial"/>
              </a:rPr>
              <a:t>Evaluate correctness</a:t>
            </a:r>
          </a:p>
        </p:txBody>
      </p:sp>
      <p:sp>
        <p:nvSpPr>
          <p:cNvPr id="14" name="Rectangle 13">
            <a:extLst>
              <a:ext uri="{FF2B5EF4-FFF2-40B4-BE49-F238E27FC236}">
                <a16:creationId xmlns:a16="http://schemas.microsoft.com/office/drawing/2014/main" id="{64D78E5D-EA87-4722-95C5-5ED3D1944CA9}"/>
              </a:ext>
            </a:extLst>
          </p:cNvPr>
          <p:cNvSpPr>
            <a:spLocks noGrp="1"/>
          </p:cNvSpPr>
          <p:nvPr/>
        </p:nvSpPr>
        <p:spPr>
          <a:xfrm>
            <a:off x="5334000" y="3850005"/>
            <a:ext cx="6096000" cy="775335"/>
          </a:xfrm>
          <a:prstGeom prst="rect">
            <a:avLst/>
          </a:prstGeom>
          <a:noFill/>
          <a:ln w="0">
            <a:noFill/>
            <a:prstDash val="solid"/>
          </a:ln>
        </p:spPr>
        <p:txBody>
          <a:bodyPr lIns="0" tIns="0" rIns="0" bIns="0" anchor="t"/>
          <a:lstStyle>
            <a:defPPr>
              <a:defRPr sz="1620" b="0">
                <a:solidFill>
                  <a:srgbClr val="586A70"/>
                </a:solidFill>
                <a:latin typeface="Arial"/>
                <a:ea typeface="Arial"/>
                <a:cs typeface="Arial"/>
              </a:defRPr>
            </a:defPPr>
          </a:lstStyle>
          <a:p>
            <a:pPr>
              <a:defRPr sz="1620" b="0">
                <a:solidFill>
                  <a:srgbClr val="586A70"/>
                </a:solidFill>
                <a:latin typeface="Arial"/>
                <a:ea typeface="Arial"/>
                <a:cs typeface="Arial"/>
              </a:defRPr>
            </a:pPr>
            <a:r>
              <a:rPr sz="1620" b="0">
                <a:solidFill>
                  <a:srgbClr val="586A70"/>
                </a:solidFill>
                <a:latin typeface="Arial"/>
                <a:ea typeface="Arial"/>
                <a:cs typeface="Arial"/>
              </a:rPr>
              <a:t>Test normal and boundary cases, reject invalid</a:t>
            </a:r>
          </a:p>
          <a:p>
            <a:pPr>
              <a:defRPr sz="1620" b="0">
                <a:solidFill>
                  <a:srgbClr val="586A70"/>
                </a:solidFill>
                <a:latin typeface="Arial"/>
                <a:ea typeface="Arial"/>
                <a:cs typeface="Arial"/>
              </a:defRPr>
            </a:pPr>
            <a:r>
              <a:rPr sz="1620" b="0">
                <a:solidFill>
                  <a:srgbClr val="586A70"/>
                </a:solidFill>
                <a:latin typeface="Arial"/>
                <a:ea typeface="Arial"/>
                <a:cs typeface="Arial"/>
              </a:rPr>
              <a:t>input, and analyse time and space costs.</a:t>
            </a:r>
          </a:p>
        </p:txBody>
      </p:sp>
      <p:sp>
        <p:nvSpPr>
          <p:cNvPr id="15" name="Rectangle 14">
            <a:extLst>
              <a:ext uri="{FF2B5EF4-FFF2-40B4-BE49-F238E27FC236}">
                <a16:creationId xmlns:a16="http://schemas.microsoft.com/office/drawing/2014/main" id="{98AFF874-68A7-4031-B52C-DC9DED2D5219}"/>
              </a:ext>
            </a:extLst>
          </p:cNvPr>
          <p:cNvSpPr>
            <a:spLocks noGrp="1"/>
          </p:cNvSpPr>
          <p:nvPr/>
        </p:nvSpPr>
        <p:spPr>
          <a:xfrm>
            <a:off x="1562100" y="4583049"/>
            <a:ext cx="9867900" cy="7048"/>
          </a:xfrm>
          <a:prstGeom prst="rect">
            <a:avLst/>
          </a:prstGeom>
          <a:solidFill>
            <a:srgbClr val="D9DFDD"/>
          </a:solidFill>
          <a:ln w="0">
            <a:noFill/>
            <a:prstDash val="solid"/>
          </a:ln>
        </p:spPr>
      </p:sp>
      <p:sp>
        <p:nvSpPr>
          <p:cNvPr id="17" name="Presentation explanation">
            <a:extLst>
              <a:ext uri="{FF2B5EF4-FFF2-40B4-BE49-F238E27FC236}">
                <a16:creationId xmlns:a16="http://schemas.microsoft.com/office/drawing/2014/main" id="{46D37694-F499-4F0A-9D93-47D6D3CA8ED9}"/>
              </a:ext>
            </a:extLst>
          </p:cNvPr>
          <p:cNvSpPr>
            <a:spLocks noGrp="1"/>
          </p:cNvSpPr>
          <p:nvPr/>
        </p:nvSpPr>
        <p:spPr>
          <a:xfrm>
            <a:off x="609600" y="5534025"/>
            <a:ext cx="10972800" cy="1000125"/>
          </a:xfrm>
          <a:prstGeom prst="rect">
            <a:avLst/>
          </a:prstGeom>
          <a:noFill/>
          <a:ln w="0">
            <a:noFill/>
          </a:ln>
        </p:spPr>
        <p:txBody>
          <a:bodyPr lIns="0" tIns="0" rIns="0" bIns="0" anchor="t"/>
          <a:lstStyle>
            <a:defPPr>
              <a:defRPr sz="1800">
                <a:solidFill>
                  <a:srgbClr val="152D38"/>
                </a:solidFill>
                <a:latin typeface="Arial"/>
                <a:ea typeface="Arial"/>
                <a:cs typeface="Arial"/>
              </a:defRPr>
            </a:defPPr>
          </a:lstStyle>
          <a:p>
            <a:pPr>
              <a:defRPr sz="1800">
                <a:solidFill>
                  <a:srgbClr val="152D38"/>
                </a:solidFill>
                <a:latin typeface="Arial"/>
                <a:ea typeface="Arial"/>
                <a:cs typeface="Arial"/>
              </a:defRPr>
            </a:pPr>
            <a:r>
              <a:rPr sz="1800">
                <a:solidFill>
                  <a:srgbClr val="152D38"/>
                </a:solidFill>
                <a:latin typeface="Arial"/>
                <a:ea typeface="Arial"/>
                <a:cs typeface="Arial"/>
              </a:rPr>
              <a:t>The main goal is to implement playlist operations safely and make their pointer changes understandable. The Simulation view replays recorded events, while normal and boundary tests check correctness and help explain the cost of each operation.</a:t>
            </a:r>
          </a:p>
        </p:txBody>
      </p:sp>
    </p:spTree>
    <p:extLst>
      <p:ext uri="{BB962C8B-B14F-4D97-AF65-F5344CB8AC3E}">
        <p14:creationId xmlns:p14="http://schemas.microsoft.com/office/powerpoint/2010/main" val="13926914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6B577FD-1E5C-429B-BEBF-8C984767CFE8}"/>
              </a:ext>
            </a:extLst>
          </p:cNvPr>
          <p:cNvSpPr>
            <a:spLocks noGrp="1"/>
          </p:cNvSpPr>
          <p:nvPr/>
        </p:nvSpPr>
        <p:spPr>
          <a:xfrm>
            <a:off x="609600" y="495300"/>
            <a:ext cx="10953750" cy="666750"/>
          </a:xfrm>
          <a:prstGeom prst="rect">
            <a:avLst/>
          </a:prstGeom>
          <a:noFill/>
          <a:ln w="0">
            <a:noFill/>
            <a:prstDash val="solid"/>
          </a:ln>
        </p:spPr>
        <p:txBody>
          <a:bodyPr lIns="0" tIns="0" rIns="0" bIns="0" anchor="t"/>
          <a:lstStyle>
            <a:defPPr>
              <a:defRPr sz="3300" b="1">
                <a:solidFill>
                  <a:srgbClr val="152D38"/>
                </a:solidFill>
                <a:latin typeface="Arial"/>
                <a:ea typeface="Arial"/>
                <a:cs typeface="Arial"/>
              </a:defRPr>
            </a:defPPr>
          </a:lstStyle>
          <a:p>
            <a:pPr>
              <a:defRPr sz="3300" b="1">
                <a:solidFill>
                  <a:srgbClr val="152D38"/>
                </a:solidFill>
                <a:latin typeface="Arial"/>
                <a:ea typeface="Arial"/>
                <a:cs typeface="Arial"/>
              </a:defRPr>
            </a:pPr>
            <a:r>
              <a:rPr sz="3300" b="1">
                <a:solidFill>
                  <a:srgbClr val="152D38"/>
                </a:solidFill>
                <a:latin typeface="Arial"/>
                <a:ea typeface="Arial"/>
                <a:cs typeface="Arial"/>
              </a:rPr>
              <a:t>Doubly linked list design</a:t>
            </a:r>
          </a:p>
        </p:txBody>
      </p:sp>
      <p:sp>
        <p:nvSpPr>
          <p:cNvPr id="2" name="Rectangle 1">
            <a:extLst>
              <a:ext uri="{FF2B5EF4-FFF2-40B4-BE49-F238E27FC236}">
                <a16:creationId xmlns:a16="http://schemas.microsoft.com/office/drawing/2014/main" id="{00316161-2E99-41E0-BED0-1B65DECB8C84}"/>
              </a:ext>
            </a:extLst>
          </p:cNvPr>
          <p:cNvSpPr>
            <a:spLocks noGrp="1"/>
          </p:cNvSpPr>
          <p:nvPr/>
        </p:nvSpPr>
        <p:spPr>
          <a:xfrm>
            <a:off x="609600" y="1314450"/>
            <a:ext cx="609600" cy="38100"/>
          </a:xfrm>
          <a:prstGeom prst="rect">
            <a:avLst/>
          </a:prstGeom>
          <a:solidFill>
            <a:srgbClr val="16786D"/>
          </a:solidFill>
          <a:ln w="0">
            <a:noFill/>
            <a:prstDash val="solid"/>
          </a:ln>
        </p:spPr>
      </p:sp>
      <p:sp>
        <p:nvSpPr>
          <p:cNvPr id="3" name="Rectangle 2">
            <a:extLst>
              <a:ext uri="{FF2B5EF4-FFF2-40B4-BE49-F238E27FC236}">
                <a16:creationId xmlns:a16="http://schemas.microsoft.com/office/drawing/2014/main" id="{AFB59CCA-183F-479F-A013-B46A9ACA09BC}"/>
              </a:ext>
            </a:extLst>
          </p:cNvPr>
          <p:cNvSpPr>
            <a:spLocks noGrp="1"/>
          </p:cNvSpPr>
          <p:nvPr/>
        </p:nvSpPr>
        <p:spPr>
          <a:xfrm>
            <a:off x="11125200" y="6629400"/>
            <a:ext cx="476250" cy="228600"/>
          </a:xfrm>
          <a:prstGeom prst="rect">
            <a:avLst/>
          </a:prstGeom>
          <a:noFill/>
          <a:ln w="0">
            <a:noFill/>
            <a:prstDash val="solid"/>
          </a:ln>
        </p:spPr>
        <p:txBody>
          <a:bodyPr lIns="0" tIns="0" rIns="0" bIns="0" anchor="t"/>
          <a:lstStyle>
            <a:defPPr>
              <a:defRPr sz="1200" b="0">
                <a:solidFill>
                  <a:srgbClr val="586A70"/>
                </a:solidFill>
                <a:latin typeface="Arial"/>
                <a:ea typeface="Arial"/>
                <a:cs typeface="Arial"/>
              </a:defRPr>
            </a:defPPr>
          </a:lstStyle>
          <a:p>
            <a:pPr>
              <a:defRPr sz="1200" b="0">
                <a:solidFill>
                  <a:srgbClr val="586A70"/>
                </a:solidFill>
                <a:latin typeface="Arial"/>
                <a:ea typeface="Arial"/>
                <a:cs typeface="Arial"/>
              </a:defRPr>
            </a:pPr>
            <a:r>
              <a:rPr sz="1200" b="0">
                <a:solidFill>
                  <a:srgbClr val="586A70"/>
                </a:solidFill>
                <a:latin typeface="Arial"/>
                <a:ea typeface="Arial"/>
                <a:cs typeface="Arial"/>
              </a:rPr>
              <a:t>04</a:t>
            </a:r>
          </a:p>
        </p:txBody>
      </p:sp>
      <p:sp>
        <p:nvSpPr>
          <p:cNvPr id="4" name="Rectangle 3">
            <a:extLst>
              <a:ext uri="{FF2B5EF4-FFF2-40B4-BE49-F238E27FC236}">
                <a16:creationId xmlns:a16="http://schemas.microsoft.com/office/drawing/2014/main" id="{EBAB7062-9EDB-413F-8D1D-33A252750052}"/>
              </a:ext>
            </a:extLst>
          </p:cNvPr>
          <p:cNvSpPr>
            <a:spLocks noGrp="1"/>
          </p:cNvSpPr>
          <p:nvPr/>
        </p:nvSpPr>
        <p:spPr>
          <a:xfrm>
            <a:off x="609600" y="1650873"/>
            <a:ext cx="10972800" cy="2713672"/>
          </a:xfrm>
          <a:prstGeom prst="rect">
            <a:avLst/>
          </a:prstGeom>
          <a:solidFill>
            <a:srgbClr val="FFFFFF"/>
          </a:solidFill>
          <a:ln w="0">
            <a:noFill/>
            <a:prstDash val="solid"/>
          </a:ln>
        </p:spPr>
      </p:sp>
      <p:pic>
        <p:nvPicPr>
          <p:cNvPr id="5" name="Picture 4">
            <a:extLst>
              <a:ext uri="{FF2B5EF4-FFF2-40B4-BE49-F238E27FC236}">
                <a16:creationId xmlns:a16="http://schemas.microsoft.com/office/drawing/2014/main" id="{F16069A3-E20B-4D43-B199-8C421A5E0DC9}"/>
              </a:ext>
            </a:extLst>
          </p:cNvPr>
          <p:cNvPicPr>
            <a:picLocks noChangeAspect="1"/>
          </p:cNvPicPr>
          <p:nvPr/>
        </p:nvPicPr>
        <p:blipFill>
          <a:blip r:embed="rId3"/>
          <a:stretch/>
        </p:blipFill>
        <p:spPr>
          <a:xfrm>
            <a:off x="2369038" y="1749552"/>
            <a:ext cx="7453922" cy="2495169"/>
          </a:xfrm>
          <a:prstGeom prst="rect">
            <a:avLst/>
          </a:prstGeom>
        </p:spPr>
      </p:pic>
      <p:sp>
        <p:nvSpPr>
          <p:cNvPr id="6" name="Rectangle 5">
            <a:extLst>
              <a:ext uri="{FF2B5EF4-FFF2-40B4-BE49-F238E27FC236}">
                <a16:creationId xmlns:a16="http://schemas.microsoft.com/office/drawing/2014/main" id="{89D2CE39-5490-431C-BD77-DCB90B4CFF88}"/>
              </a:ext>
            </a:extLst>
          </p:cNvPr>
          <p:cNvSpPr>
            <a:spLocks noGrp="1"/>
          </p:cNvSpPr>
          <p:nvPr/>
        </p:nvSpPr>
        <p:spPr>
          <a:xfrm>
            <a:off x="609600" y="4576000"/>
            <a:ext cx="4762500" cy="239649"/>
          </a:xfrm>
          <a:prstGeom prst="rect">
            <a:avLst/>
          </a:prstGeom>
          <a:noFill/>
          <a:ln w="0">
            <a:noFill/>
            <a:prstDash val="solid"/>
          </a:ln>
        </p:spPr>
        <p:txBody>
          <a:bodyPr lIns="0" tIns="0" rIns="0" bIns="0" anchor="t"/>
          <a:lstStyle>
            <a:defPPr>
              <a:defRPr sz="1440" b="1">
                <a:solidFill>
                  <a:srgbClr val="16786D"/>
                </a:solidFill>
                <a:latin typeface="Arial"/>
                <a:ea typeface="Arial"/>
                <a:cs typeface="Arial"/>
              </a:defRPr>
            </a:defPPr>
          </a:lstStyle>
          <a:p>
            <a:pPr>
              <a:defRPr sz="1440" b="1">
                <a:solidFill>
                  <a:srgbClr val="16786D"/>
                </a:solidFill>
                <a:latin typeface="Arial"/>
                <a:ea typeface="Arial"/>
                <a:cs typeface="Arial"/>
              </a:defRPr>
            </a:pPr>
            <a:r>
              <a:rPr sz="1440" b="1">
                <a:solidFill>
                  <a:srgbClr val="16786D"/>
                </a:solidFill>
                <a:latin typeface="Arial"/>
                <a:ea typeface="Arial"/>
                <a:cs typeface="Arial"/>
              </a:rPr>
              <a:t>Song node</a:t>
            </a:r>
          </a:p>
        </p:txBody>
      </p:sp>
      <p:sp>
        <p:nvSpPr>
          <p:cNvPr id="7" name="Rectangle 6">
            <a:extLst>
              <a:ext uri="{FF2B5EF4-FFF2-40B4-BE49-F238E27FC236}">
                <a16:creationId xmlns:a16="http://schemas.microsoft.com/office/drawing/2014/main" id="{62479B9A-7E51-40E6-866A-130D298ABAF4}"/>
              </a:ext>
            </a:extLst>
          </p:cNvPr>
          <p:cNvSpPr>
            <a:spLocks noGrp="1"/>
          </p:cNvSpPr>
          <p:nvPr/>
        </p:nvSpPr>
        <p:spPr>
          <a:xfrm>
            <a:off x="609600" y="4836795"/>
            <a:ext cx="5715000" cy="239649"/>
          </a:xfrm>
          <a:prstGeom prst="rect">
            <a:avLst/>
          </a:prstGeom>
          <a:noFill/>
          <a:ln w="0">
            <a:noFill/>
            <a:prstDash val="solid"/>
          </a:ln>
        </p:spPr>
        <p:txBody>
          <a:bodyPr lIns="0" tIns="0" rIns="0" bIns="0" anchor="t"/>
          <a:lstStyle>
            <a:defPPr>
              <a:defRPr sz="1380" b="0">
                <a:solidFill>
                  <a:srgbClr val="152D38"/>
                </a:solidFill>
                <a:latin typeface="Arial"/>
                <a:ea typeface="Arial"/>
                <a:cs typeface="Arial"/>
              </a:defRPr>
            </a:defPPr>
          </a:lstStyle>
          <a:p>
            <a:pPr>
              <a:defRPr sz="1380" b="0">
                <a:solidFill>
                  <a:srgbClr val="152D38"/>
                </a:solidFill>
                <a:latin typeface="Arial"/>
                <a:ea typeface="Arial"/>
                <a:cs typeface="Arial"/>
              </a:defRPr>
            </a:pPr>
            <a:r>
              <a:rPr sz="1380" b="0">
                <a:solidFill>
                  <a:srgbClr val="152D38"/>
                </a:solidFill>
                <a:latin typeface="Arial"/>
                <a:ea typeface="Arial"/>
                <a:cs typeface="Arial"/>
              </a:rPr>
              <a:t>ID, title, artist, prev and next</a:t>
            </a:r>
          </a:p>
        </p:txBody>
      </p:sp>
      <p:sp>
        <p:nvSpPr>
          <p:cNvPr id="8" name="Rectangle 7">
            <a:extLst>
              <a:ext uri="{FF2B5EF4-FFF2-40B4-BE49-F238E27FC236}">
                <a16:creationId xmlns:a16="http://schemas.microsoft.com/office/drawing/2014/main" id="{36506CA2-3FA3-458E-B367-456843929286}"/>
              </a:ext>
            </a:extLst>
          </p:cNvPr>
          <p:cNvSpPr>
            <a:spLocks noGrp="1"/>
          </p:cNvSpPr>
          <p:nvPr/>
        </p:nvSpPr>
        <p:spPr>
          <a:xfrm>
            <a:off x="6705600" y="4576000"/>
            <a:ext cx="4762500" cy="239649"/>
          </a:xfrm>
          <a:prstGeom prst="rect">
            <a:avLst/>
          </a:prstGeom>
          <a:noFill/>
          <a:ln w="0">
            <a:noFill/>
            <a:prstDash val="solid"/>
          </a:ln>
        </p:spPr>
        <p:txBody>
          <a:bodyPr lIns="0" tIns="0" rIns="0" bIns="0" anchor="t"/>
          <a:lstStyle>
            <a:defPPr>
              <a:defRPr sz="1440" b="1">
                <a:solidFill>
                  <a:srgbClr val="16786D"/>
                </a:solidFill>
                <a:latin typeface="Arial"/>
                <a:ea typeface="Arial"/>
                <a:cs typeface="Arial"/>
              </a:defRPr>
            </a:defPPr>
          </a:lstStyle>
          <a:p>
            <a:pPr>
              <a:defRPr sz="1440" b="1">
                <a:solidFill>
                  <a:srgbClr val="16786D"/>
                </a:solidFill>
                <a:latin typeface="Arial"/>
                <a:ea typeface="Arial"/>
                <a:cs typeface="Arial"/>
              </a:defRPr>
            </a:pPr>
            <a:r>
              <a:rPr sz="1440" b="1">
                <a:solidFill>
                  <a:srgbClr val="16786D"/>
                </a:solidFill>
                <a:latin typeface="Arial"/>
                <a:ea typeface="Arial"/>
                <a:cs typeface="Arial"/>
              </a:rPr>
              <a:t>Playlist</a:t>
            </a:r>
          </a:p>
        </p:txBody>
      </p:sp>
      <p:sp>
        <p:nvSpPr>
          <p:cNvPr id="9" name="Rectangle 8">
            <a:extLst>
              <a:ext uri="{FF2B5EF4-FFF2-40B4-BE49-F238E27FC236}">
                <a16:creationId xmlns:a16="http://schemas.microsoft.com/office/drawing/2014/main" id="{7505D29F-F67C-427E-A677-9BE085BAEC4E}"/>
              </a:ext>
            </a:extLst>
          </p:cNvPr>
          <p:cNvSpPr>
            <a:spLocks noGrp="1"/>
          </p:cNvSpPr>
          <p:nvPr/>
        </p:nvSpPr>
        <p:spPr>
          <a:xfrm>
            <a:off x="6705600" y="4836795"/>
            <a:ext cx="4876800" cy="239649"/>
          </a:xfrm>
          <a:prstGeom prst="rect">
            <a:avLst/>
          </a:prstGeom>
          <a:noFill/>
          <a:ln w="0">
            <a:noFill/>
            <a:prstDash val="solid"/>
          </a:ln>
        </p:spPr>
        <p:txBody>
          <a:bodyPr lIns="0" tIns="0" rIns="0" bIns="0" anchor="t"/>
          <a:lstStyle>
            <a:defPPr>
              <a:defRPr sz="1380" b="0">
                <a:solidFill>
                  <a:srgbClr val="152D38"/>
                </a:solidFill>
                <a:latin typeface="Arial"/>
                <a:ea typeface="Arial"/>
                <a:cs typeface="Arial"/>
              </a:defRPr>
            </a:defPPr>
          </a:lstStyle>
          <a:p>
            <a:pPr>
              <a:defRPr sz="1380" b="0">
                <a:solidFill>
                  <a:srgbClr val="152D38"/>
                </a:solidFill>
                <a:latin typeface="Arial"/>
                <a:ea typeface="Arial"/>
                <a:cs typeface="Arial"/>
              </a:defRPr>
            </a:pPr>
            <a:r>
              <a:rPr sz="1380" b="0">
                <a:solidFill>
                  <a:srgbClr val="152D38"/>
                </a:solidFill>
                <a:latin typeface="Arial"/>
                <a:ea typeface="Arial"/>
                <a:cs typeface="Arial"/>
              </a:rPr>
              <a:t>head, tail, current, size</a:t>
            </a:r>
          </a:p>
        </p:txBody>
      </p:sp>
      <p:sp>
        <p:nvSpPr>
          <p:cNvPr id="11" name="Presentation explanation">
            <a:extLst>
              <a:ext uri="{FF2B5EF4-FFF2-40B4-BE49-F238E27FC236}">
                <a16:creationId xmlns:a16="http://schemas.microsoft.com/office/drawing/2014/main" id="{D7CCC94E-BEE2-4C35-A78D-639BFC0BE718}"/>
              </a:ext>
            </a:extLst>
          </p:cNvPr>
          <p:cNvSpPr>
            <a:spLocks noGrp="1"/>
          </p:cNvSpPr>
          <p:nvPr/>
        </p:nvSpPr>
        <p:spPr>
          <a:xfrm>
            <a:off x="609600" y="5534025"/>
            <a:ext cx="10972800" cy="1000125"/>
          </a:xfrm>
          <a:prstGeom prst="rect">
            <a:avLst/>
          </a:prstGeom>
          <a:noFill/>
          <a:ln w="0">
            <a:noFill/>
          </a:ln>
        </p:spPr>
        <p:txBody>
          <a:bodyPr lIns="0" tIns="0" rIns="0" bIns="0" anchor="t"/>
          <a:lstStyle>
            <a:defPPr>
              <a:defRPr sz="1800">
                <a:solidFill>
                  <a:srgbClr val="152D38"/>
                </a:solidFill>
                <a:latin typeface="Arial"/>
                <a:ea typeface="Arial"/>
                <a:cs typeface="Arial"/>
              </a:defRPr>
            </a:defPPr>
          </a:lstStyle>
          <a:p>
            <a:pPr>
              <a:defRPr sz="1800">
                <a:solidFill>
                  <a:srgbClr val="152D38"/>
                </a:solidFill>
                <a:latin typeface="Arial"/>
                <a:ea typeface="Arial"/>
                <a:cs typeface="Arial"/>
              </a:defRPr>
            </a:pPr>
            <a:r>
              <a:rPr sz="1800">
                <a:solidFill>
                  <a:srgbClr val="152D38"/>
                </a:solidFill>
                <a:latin typeface="Arial"/>
                <a:ea typeface="Arial"/>
                <a:cs typeface="Arial"/>
              </a:rPr>
              <a:t>Each song is a node with links to the previous and next songs. The playlist stores its head, tail and current selection, so we can move in either direction and update the correct endpoints when songs change.</a:t>
            </a:r>
          </a:p>
        </p:txBody>
      </p:sp>
    </p:spTree>
    <p:extLst>
      <p:ext uri="{BB962C8B-B14F-4D97-AF65-F5344CB8AC3E}">
        <p14:creationId xmlns:p14="http://schemas.microsoft.com/office/powerpoint/2010/main" val="2773033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8134F5D-DB49-4EE9-BB4A-F359597F3854}"/>
              </a:ext>
            </a:extLst>
          </p:cNvPr>
          <p:cNvSpPr>
            <a:spLocks noGrp="1"/>
          </p:cNvSpPr>
          <p:nvPr/>
        </p:nvSpPr>
        <p:spPr>
          <a:xfrm>
            <a:off x="609600" y="495300"/>
            <a:ext cx="10953750" cy="666750"/>
          </a:xfrm>
          <a:prstGeom prst="rect">
            <a:avLst/>
          </a:prstGeom>
          <a:noFill/>
          <a:ln w="0">
            <a:noFill/>
            <a:prstDash val="solid"/>
          </a:ln>
        </p:spPr>
        <p:txBody>
          <a:bodyPr lIns="0" tIns="0" rIns="0" bIns="0" anchor="t"/>
          <a:lstStyle>
            <a:defPPr>
              <a:defRPr sz="3300" b="1">
                <a:solidFill>
                  <a:srgbClr val="152D38"/>
                </a:solidFill>
                <a:latin typeface="Arial"/>
                <a:ea typeface="Arial"/>
                <a:cs typeface="Arial"/>
              </a:defRPr>
            </a:defPPr>
          </a:lstStyle>
          <a:p>
            <a:pPr>
              <a:defRPr sz="3300" b="1">
                <a:solidFill>
                  <a:srgbClr val="152D38"/>
                </a:solidFill>
                <a:latin typeface="Arial"/>
                <a:ea typeface="Arial"/>
                <a:cs typeface="Arial"/>
              </a:defRPr>
            </a:pPr>
            <a:r>
              <a:rPr sz="3300" b="1">
                <a:solidFill>
                  <a:srgbClr val="152D38"/>
                </a:solidFill>
                <a:latin typeface="Arial"/>
                <a:ea typeface="Arial"/>
                <a:cs typeface="Arial"/>
              </a:rPr>
              <a:t>System architecture</a:t>
            </a:r>
          </a:p>
        </p:txBody>
      </p:sp>
      <p:sp>
        <p:nvSpPr>
          <p:cNvPr id="2" name="Rectangle 1">
            <a:extLst>
              <a:ext uri="{FF2B5EF4-FFF2-40B4-BE49-F238E27FC236}">
                <a16:creationId xmlns:a16="http://schemas.microsoft.com/office/drawing/2014/main" id="{A0C84A2F-6183-4222-BFBC-08C6891422E9}"/>
              </a:ext>
            </a:extLst>
          </p:cNvPr>
          <p:cNvSpPr>
            <a:spLocks noGrp="1"/>
          </p:cNvSpPr>
          <p:nvPr/>
        </p:nvSpPr>
        <p:spPr>
          <a:xfrm>
            <a:off x="609600" y="1314450"/>
            <a:ext cx="609600" cy="38100"/>
          </a:xfrm>
          <a:prstGeom prst="rect">
            <a:avLst/>
          </a:prstGeom>
          <a:solidFill>
            <a:srgbClr val="16786D"/>
          </a:solidFill>
          <a:ln w="0">
            <a:noFill/>
            <a:prstDash val="solid"/>
          </a:ln>
        </p:spPr>
      </p:sp>
      <p:sp>
        <p:nvSpPr>
          <p:cNvPr id="3" name="Rectangle 2">
            <a:extLst>
              <a:ext uri="{FF2B5EF4-FFF2-40B4-BE49-F238E27FC236}">
                <a16:creationId xmlns:a16="http://schemas.microsoft.com/office/drawing/2014/main" id="{9F2607FC-1E0D-4AE1-9924-593546C4A9EF}"/>
              </a:ext>
            </a:extLst>
          </p:cNvPr>
          <p:cNvSpPr>
            <a:spLocks noGrp="1"/>
          </p:cNvSpPr>
          <p:nvPr/>
        </p:nvSpPr>
        <p:spPr>
          <a:xfrm>
            <a:off x="11125200" y="6629400"/>
            <a:ext cx="476250" cy="228600"/>
          </a:xfrm>
          <a:prstGeom prst="rect">
            <a:avLst/>
          </a:prstGeom>
          <a:noFill/>
          <a:ln w="0">
            <a:noFill/>
            <a:prstDash val="solid"/>
          </a:ln>
        </p:spPr>
        <p:txBody>
          <a:bodyPr lIns="0" tIns="0" rIns="0" bIns="0" anchor="t"/>
          <a:lstStyle>
            <a:defPPr>
              <a:defRPr sz="1200" b="0">
                <a:solidFill>
                  <a:srgbClr val="586A70"/>
                </a:solidFill>
                <a:latin typeface="Arial"/>
                <a:ea typeface="Arial"/>
                <a:cs typeface="Arial"/>
              </a:defRPr>
            </a:defPPr>
          </a:lstStyle>
          <a:p>
            <a:pPr>
              <a:defRPr sz="1200" b="0">
                <a:solidFill>
                  <a:srgbClr val="586A70"/>
                </a:solidFill>
                <a:latin typeface="Arial"/>
                <a:ea typeface="Arial"/>
                <a:cs typeface="Arial"/>
              </a:defRPr>
            </a:pPr>
            <a:r>
              <a:rPr sz="1200" b="0">
                <a:solidFill>
                  <a:srgbClr val="586A70"/>
                </a:solidFill>
                <a:latin typeface="Arial"/>
                <a:ea typeface="Arial"/>
                <a:cs typeface="Arial"/>
              </a:rPr>
              <a:t>05</a:t>
            </a:r>
          </a:p>
        </p:txBody>
      </p:sp>
      <p:sp>
        <p:nvSpPr>
          <p:cNvPr id="4" name="Rectangle 3">
            <a:extLst>
              <a:ext uri="{FF2B5EF4-FFF2-40B4-BE49-F238E27FC236}">
                <a16:creationId xmlns:a16="http://schemas.microsoft.com/office/drawing/2014/main" id="{CD18AE68-C326-40E6-90BA-872F8383E52E}"/>
              </a:ext>
            </a:extLst>
          </p:cNvPr>
          <p:cNvSpPr>
            <a:spLocks noGrp="1"/>
          </p:cNvSpPr>
          <p:nvPr/>
        </p:nvSpPr>
        <p:spPr>
          <a:xfrm>
            <a:off x="609600" y="1650873"/>
            <a:ext cx="10972800" cy="2854642"/>
          </a:xfrm>
          <a:prstGeom prst="rect">
            <a:avLst/>
          </a:prstGeom>
          <a:solidFill>
            <a:srgbClr val="FFFFFF"/>
          </a:solidFill>
          <a:ln w="0">
            <a:noFill/>
            <a:prstDash val="solid"/>
          </a:ln>
        </p:spPr>
      </p:sp>
      <p:pic>
        <p:nvPicPr>
          <p:cNvPr id="5" name="Picture 4">
            <a:extLst>
              <a:ext uri="{FF2B5EF4-FFF2-40B4-BE49-F238E27FC236}">
                <a16:creationId xmlns:a16="http://schemas.microsoft.com/office/drawing/2014/main" id="{22049AFE-738C-43AE-AA64-923921EEA9C8}"/>
              </a:ext>
            </a:extLst>
          </p:cNvPr>
          <p:cNvPicPr>
            <a:picLocks noChangeAspect="1"/>
          </p:cNvPicPr>
          <p:nvPr/>
        </p:nvPicPr>
        <p:blipFill>
          <a:blip r:embed="rId3"/>
          <a:stretch/>
        </p:blipFill>
        <p:spPr>
          <a:xfrm>
            <a:off x="2273831" y="1749552"/>
            <a:ext cx="7644336" cy="2629090"/>
          </a:xfrm>
          <a:prstGeom prst="rect">
            <a:avLst/>
          </a:prstGeom>
        </p:spPr>
      </p:pic>
      <p:sp>
        <p:nvSpPr>
          <p:cNvPr id="6" name="Rectangle 5">
            <a:extLst>
              <a:ext uri="{FF2B5EF4-FFF2-40B4-BE49-F238E27FC236}">
                <a16:creationId xmlns:a16="http://schemas.microsoft.com/office/drawing/2014/main" id="{CA79D140-F0E1-4E96-B707-190E822C88FE}"/>
              </a:ext>
            </a:extLst>
          </p:cNvPr>
          <p:cNvSpPr>
            <a:spLocks noGrp="1"/>
          </p:cNvSpPr>
          <p:nvPr/>
        </p:nvSpPr>
        <p:spPr>
          <a:xfrm>
            <a:off x="609600" y="4702873"/>
            <a:ext cx="10972800" cy="310134"/>
          </a:xfrm>
          <a:prstGeom prst="rect">
            <a:avLst/>
          </a:prstGeom>
          <a:noFill/>
          <a:ln w="0">
            <a:noFill/>
            <a:prstDash val="solid"/>
          </a:ln>
        </p:spPr>
        <p:txBody>
          <a:bodyPr lIns="0" tIns="0" rIns="0" bIns="0" anchor="t"/>
          <a:lstStyle>
            <a:defPPr>
              <a:defRPr sz="1620" b="1">
                <a:solidFill>
                  <a:srgbClr val="16786D"/>
                </a:solidFill>
                <a:latin typeface="Arial"/>
                <a:ea typeface="Arial"/>
                <a:cs typeface="Arial"/>
              </a:defRPr>
            </a:defPPr>
          </a:lstStyle>
          <a:p>
            <a:pPr>
              <a:defRPr sz="1620" b="1">
                <a:solidFill>
                  <a:srgbClr val="16786D"/>
                </a:solidFill>
                <a:latin typeface="Arial"/>
                <a:ea typeface="Arial"/>
                <a:cs typeface="Arial"/>
              </a:defRPr>
            </a:pPr>
            <a:r>
              <a:rPr sz="1620" b="1">
                <a:solidFill>
                  <a:srgbClr val="16786D"/>
                </a:solidFill>
                <a:latin typeface="Arial"/>
                <a:ea typeface="Arial"/>
                <a:cs typeface="Arial"/>
              </a:rPr>
              <a:t>Input validation happens before the C operation changes the playlist.</a:t>
            </a:r>
          </a:p>
        </p:txBody>
      </p:sp>
      <p:sp>
        <p:nvSpPr>
          <p:cNvPr id="8" name="Presentation explanation">
            <a:extLst>
              <a:ext uri="{FF2B5EF4-FFF2-40B4-BE49-F238E27FC236}">
                <a16:creationId xmlns:a16="http://schemas.microsoft.com/office/drawing/2014/main" id="{F48DEA25-E18C-4353-9993-DA61720AE7EC}"/>
              </a:ext>
            </a:extLst>
          </p:cNvPr>
          <p:cNvSpPr>
            <a:spLocks noGrp="1"/>
          </p:cNvSpPr>
          <p:nvPr/>
        </p:nvSpPr>
        <p:spPr>
          <a:xfrm>
            <a:off x="609600" y="5534025"/>
            <a:ext cx="10972800" cy="1000125"/>
          </a:xfrm>
          <a:prstGeom prst="rect">
            <a:avLst/>
          </a:prstGeom>
          <a:noFill/>
          <a:ln w="0">
            <a:noFill/>
          </a:ln>
        </p:spPr>
        <p:txBody>
          <a:bodyPr lIns="0" tIns="0" rIns="0" bIns="0" anchor="t"/>
          <a:lstStyle>
            <a:defPPr>
              <a:defRPr sz="1800">
                <a:solidFill>
                  <a:srgbClr val="152D38"/>
                </a:solidFill>
                <a:latin typeface="Arial"/>
                <a:ea typeface="Arial"/>
                <a:cs typeface="Arial"/>
              </a:defRPr>
            </a:defPPr>
          </a:lstStyle>
          <a:p>
            <a:pPr>
              <a:defRPr sz="1800">
                <a:solidFill>
                  <a:srgbClr val="152D38"/>
                </a:solidFill>
                <a:latin typeface="Arial"/>
                <a:ea typeface="Arial"/>
                <a:cs typeface="Arial"/>
              </a:defRPr>
            </a:pPr>
            <a:r>
              <a:rPr sz="1800">
                <a:solidFill>
                  <a:srgbClr val="152D38"/>
                </a:solidFill>
                <a:latin typeface="Arial"/>
                <a:ea typeface="Arial"/>
                <a:cs typeface="Arial"/>
              </a:rPr>
              <a:t>The browser sends a request to the local server, which validates the input before calling the C playlist core. C updates the list and returns state and recorded events, which the browser then displays and replays.</a:t>
            </a:r>
          </a:p>
        </p:txBody>
      </p:sp>
    </p:spTree>
    <p:extLst>
      <p:ext uri="{BB962C8B-B14F-4D97-AF65-F5344CB8AC3E}">
        <p14:creationId xmlns:p14="http://schemas.microsoft.com/office/powerpoint/2010/main" val="5886212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836FEE6-0653-4CF7-A41A-465DCFB73C4D}"/>
              </a:ext>
            </a:extLst>
          </p:cNvPr>
          <p:cNvSpPr>
            <a:spLocks noGrp="1"/>
          </p:cNvSpPr>
          <p:nvPr/>
        </p:nvSpPr>
        <p:spPr>
          <a:xfrm>
            <a:off x="609600" y="495300"/>
            <a:ext cx="10953750" cy="666750"/>
          </a:xfrm>
          <a:prstGeom prst="rect">
            <a:avLst/>
          </a:prstGeom>
          <a:noFill/>
          <a:ln w="0">
            <a:noFill/>
            <a:prstDash val="solid"/>
          </a:ln>
        </p:spPr>
        <p:txBody>
          <a:bodyPr lIns="0" tIns="0" rIns="0" bIns="0" anchor="t"/>
          <a:lstStyle>
            <a:defPPr>
              <a:defRPr sz="3300" b="1">
                <a:solidFill>
                  <a:srgbClr val="152D38"/>
                </a:solidFill>
                <a:latin typeface="Arial"/>
                <a:ea typeface="Arial"/>
                <a:cs typeface="Arial"/>
              </a:defRPr>
            </a:defPPr>
          </a:lstStyle>
          <a:p>
            <a:pPr>
              <a:defRPr sz="3300" b="1">
                <a:solidFill>
                  <a:srgbClr val="152D38"/>
                </a:solidFill>
                <a:latin typeface="Arial"/>
                <a:ea typeface="Arial"/>
                <a:cs typeface="Arial"/>
              </a:defRPr>
            </a:pPr>
            <a:r>
              <a:rPr sz="3300" b="1">
                <a:solidFill>
                  <a:srgbClr val="152D38"/>
                </a:solidFill>
                <a:latin typeface="Arial"/>
                <a:ea typeface="Arial"/>
                <a:cs typeface="Arial"/>
              </a:rPr>
              <a:t>Operations &amp; complexity</a:t>
            </a:r>
          </a:p>
        </p:txBody>
      </p:sp>
      <p:sp>
        <p:nvSpPr>
          <p:cNvPr id="2" name="Rectangle 1">
            <a:extLst>
              <a:ext uri="{FF2B5EF4-FFF2-40B4-BE49-F238E27FC236}">
                <a16:creationId xmlns:a16="http://schemas.microsoft.com/office/drawing/2014/main" id="{43602DF0-DCA7-4F1E-9514-DDDDAF1E4645}"/>
              </a:ext>
            </a:extLst>
          </p:cNvPr>
          <p:cNvSpPr>
            <a:spLocks noGrp="1"/>
          </p:cNvSpPr>
          <p:nvPr/>
        </p:nvSpPr>
        <p:spPr>
          <a:xfrm>
            <a:off x="609600" y="1314450"/>
            <a:ext cx="609600" cy="38100"/>
          </a:xfrm>
          <a:prstGeom prst="rect">
            <a:avLst/>
          </a:prstGeom>
          <a:solidFill>
            <a:srgbClr val="16786D"/>
          </a:solidFill>
          <a:ln w="0">
            <a:noFill/>
            <a:prstDash val="solid"/>
          </a:ln>
        </p:spPr>
      </p:sp>
      <p:sp>
        <p:nvSpPr>
          <p:cNvPr id="3" name="Rectangle 2">
            <a:extLst>
              <a:ext uri="{FF2B5EF4-FFF2-40B4-BE49-F238E27FC236}">
                <a16:creationId xmlns:a16="http://schemas.microsoft.com/office/drawing/2014/main" id="{C9B5C720-4D86-4C04-8A86-D4C2EDC6BEC6}"/>
              </a:ext>
            </a:extLst>
          </p:cNvPr>
          <p:cNvSpPr>
            <a:spLocks noGrp="1"/>
          </p:cNvSpPr>
          <p:nvPr/>
        </p:nvSpPr>
        <p:spPr>
          <a:xfrm>
            <a:off x="11125200" y="6629400"/>
            <a:ext cx="476250" cy="228600"/>
          </a:xfrm>
          <a:prstGeom prst="rect">
            <a:avLst/>
          </a:prstGeom>
          <a:noFill/>
          <a:ln w="0">
            <a:noFill/>
            <a:prstDash val="solid"/>
          </a:ln>
        </p:spPr>
        <p:txBody>
          <a:bodyPr lIns="0" tIns="0" rIns="0" bIns="0" anchor="t"/>
          <a:lstStyle>
            <a:defPPr>
              <a:defRPr sz="1200" b="0">
                <a:solidFill>
                  <a:srgbClr val="586A70"/>
                </a:solidFill>
                <a:latin typeface="Arial"/>
                <a:ea typeface="Arial"/>
                <a:cs typeface="Arial"/>
              </a:defRPr>
            </a:defPPr>
          </a:lstStyle>
          <a:p>
            <a:pPr>
              <a:defRPr sz="1200" b="0">
                <a:solidFill>
                  <a:srgbClr val="586A70"/>
                </a:solidFill>
                <a:latin typeface="Arial"/>
                <a:ea typeface="Arial"/>
                <a:cs typeface="Arial"/>
              </a:defRPr>
            </a:pPr>
            <a:r>
              <a:rPr sz="1200" b="0">
                <a:solidFill>
                  <a:srgbClr val="586A70"/>
                </a:solidFill>
                <a:latin typeface="Arial"/>
                <a:ea typeface="Arial"/>
                <a:cs typeface="Arial"/>
              </a:rPr>
              <a:t>06</a:t>
            </a:r>
          </a:p>
        </p:txBody>
      </p:sp>
      <p:graphicFrame>
        <p:nvGraphicFramePr>
          <p:cNvPr id="4" name="Table 3">
            <a:extLst>
              <a:ext uri="{FF2B5EF4-FFF2-40B4-BE49-F238E27FC236}">
                <a16:creationId xmlns:a16="http://schemas.microsoft.com/office/drawing/2014/main" id="{AECC4C98-FCA9-4B71-AD56-5B4F787C4AAF}"/>
              </a:ext>
            </a:extLst>
          </p:cNvPr>
          <p:cNvGraphicFramePr/>
          <p:nvPr/>
        </p:nvGraphicFramePr>
        <p:xfrm>
          <a:off x="609600" y="1664970"/>
          <a:ext cx="10972800" cy="2748915"/>
        </p:xfrm>
        <a:graphic>
          <a:graphicData uri="http://schemas.openxmlformats.org/drawingml/2006/table">
            <a:tbl>
              <a:tblPr/>
              <a:tblGrid>
                <a:gridCol w="3429000">
                  <a:extLst>
                    <a:ext uri="{9D8B030D-6E8A-4147-A177-3AD203B41FA5}">
                      <a16:colId xmlns:a16="http://schemas.microsoft.com/office/drawing/2014/main" val="20000"/>
                    </a:ext>
                  </a:extLst>
                </a:gridCol>
                <a:gridCol w="1619250">
                  <a:extLst>
                    <a:ext uri="{9D8B030D-6E8A-4147-A177-3AD203B41FA5}">
                      <a16:colId xmlns:a16="http://schemas.microsoft.com/office/drawing/2014/main" val="20001"/>
                    </a:ext>
                  </a:extLst>
                </a:gridCol>
                <a:gridCol w="5924550">
                  <a:extLst>
                    <a:ext uri="{9D8B030D-6E8A-4147-A177-3AD203B41FA5}">
                      <a16:colId xmlns:a16="http://schemas.microsoft.com/office/drawing/2014/main" val="20002"/>
                    </a:ext>
                  </a:extLst>
                </a:gridCol>
              </a:tblGrid>
              <a:tr h="458152">
                <a:tc>
                  <a:txBody>
                    <a:bodyPr/>
                    <a:lstStyle/>
                    <a:p>
                      <a:r>
                        <a:rPr sz="1500" b="1">
                          <a:solidFill>
                            <a:srgbClr val="FFFFFF"/>
                          </a:solidFill>
                          <a:latin typeface="Arial"/>
                          <a:ea typeface="Arial"/>
                          <a:cs typeface="Arial"/>
                        </a:rPr>
                        <a:t>Operation</a:t>
                      </a:r>
                    </a:p>
                  </a:txBody>
                  <a:tcPr>
                    <a:lnL w="19050">
                      <a:solidFill>
                        <a:srgbClr val="FAF9F5"/>
                      </a:solidFill>
                      <a:prstDash val="solid"/>
                    </a:lnL>
                    <a:lnR w="19050">
                      <a:solidFill>
                        <a:srgbClr val="FAF9F5"/>
                      </a:solidFill>
                      <a:prstDash val="solid"/>
                    </a:lnR>
                    <a:lnT w="19050">
                      <a:solidFill>
                        <a:srgbClr val="FAF9F5"/>
                      </a:solidFill>
                      <a:prstDash val="solid"/>
                    </a:lnT>
                    <a:lnB w="19050">
                      <a:solidFill>
                        <a:srgbClr val="FAF9F5"/>
                      </a:solidFill>
                      <a:prstDash val="solid"/>
                    </a:lnB>
                    <a:solidFill>
                      <a:srgbClr val="152D38"/>
                    </a:solidFill>
                  </a:tcPr>
                </a:tc>
                <a:tc>
                  <a:txBody>
                    <a:bodyPr/>
                    <a:lstStyle/>
                    <a:p>
                      <a:r>
                        <a:rPr sz="1500" b="1">
                          <a:solidFill>
                            <a:srgbClr val="FFFFFF"/>
                          </a:solidFill>
                          <a:latin typeface="Arial"/>
                          <a:ea typeface="Arial"/>
                          <a:cs typeface="Arial"/>
                        </a:rPr>
                        <a:t>Core cost</a:t>
                      </a:r>
                    </a:p>
                  </a:txBody>
                  <a:tcPr>
                    <a:lnL w="19050" cap="flat" cmpd="sng" algn="ctr">
                      <a:solidFill>
                        <a:srgbClr val="FAF9F5"/>
                      </a:solidFill>
                      <a:prstDash val="solid"/>
                      <a:round/>
                      <a:headEnd type="none" w="med" len="med"/>
                      <a:tailEnd type="none" w="med" len="med"/>
                    </a:lnL>
                    <a:lnR w="19050">
                      <a:solidFill>
                        <a:srgbClr val="FAF9F5"/>
                      </a:solidFill>
                      <a:prstDash val="solid"/>
                    </a:lnR>
                    <a:lnT w="19050">
                      <a:solidFill>
                        <a:srgbClr val="FAF9F5"/>
                      </a:solidFill>
                      <a:prstDash val="solid"/>
                    </a:lnT>
                    <a:lnB w="19050">
                      <a:solidFill>
                        <a:srgbClr val="FAF9F5"/>
                      </a:solidFill>
                      <a:prstDash val="solid"/>
                    </a:lnB>
                    <a:solidFill>
                      <a:srgbClr val="152D38"/>
                    </a:solidFill>
                  </a:tcPr>
                </a:tc>
                <a:tc>
                  <a:txBody>
                    <a:bodyPr/>
                    <a:lstStyle/>
                    <a:p>
                      <a:r>
                        <a:rPr sz="1500" b="1">
                          <a:solidFill>
                            <a:srgbClr val="FFFFFF"/>
                          </a:solidFill>
                          <a:latin typeface="Arial"/>
                          <a:ea typeface="Arial"/>
                          <a:cs typeface="Arial"/>
                        </a:rPr>
                        <a:t>Reason</a:t>
                      </a:r>
                    </a:p>
                  </a:txBody>
                  <a:tcPr>
                    <a:lnL w="19050" cap="flat" cmpd="sng" algn="ctr">
                      <a:solidFill>
                        <a:srgbClr val="FAF9F5"/>
                      </a:solidFill>
                      <a:prstDash val="solid"/>
                      <a:round/>
                      <a:headEnd type="none" w="med" len="med"/>
                      <a:tailEnd type="none" w="med" len="med"/>
                    </a:lnL>
                    <a:lnR w="19050">
                      <a:solidFill>
                        <a:srgbClr val="FAF9F5"/>
                      </a:solidFill>
                      <a:prstDash val="solid"/>
                    </a:lnR>
                    <a:lnT w="19050">
                      <a:solidFill>
                        <a:srgbClr val="FAF9F5"/>
                      </a:solidFill>
                      <a:prstDash val="solid"/>
                    </a:lnT>
                    <a:lnB w="19050">
                      <a:solidFill>
                        <a:srgbClr val="FAF9F5"/>
                      </a:solidFill>
                      <a:prstDash val="solid"/>
                    </a:lnB>
                    <a:solidFill>
                      <a:srgbClr val="152D38"/>
                    </a:solidFill>
                  </a:tcPr>
                </a:tc>
                <a:extLst>
                  <a:ext uri="{0D108BD9-81ED-4DB2-BD59-A6C34878D82A}">
                    <a16:rowId xmlns:a16="http://schemas.microsoft.com/office/drawing/2014/main" val="10000"/>
                  </a:ext>
                </a:extLst>
              </a:tr>
              <a:tr h="458152">
                <a:tc>
                  <a:txBody>
                    <a:bodyPr/>
                    <a:lstStyle/>
                    <a:p>
                      <a:r>
                        <a:rPr sz="1500" b="0">
                          <a:solidFill>
                            <a:srgbClr val="152D38"/>
                          </a:solidFill>
                          <a:latin typeface="Arial"/>
                          <a:ea typeface="Arial"/>
                          <a:cs typeface="Arial"/>
                        </a:rPr>
                        <a:t>Append</a:t>
                      </a:r>
                    </a:p>
                  </a:txBody>
                  <a:tcPr>
                    <a:lnL w="19050">
                      <a:solidFill>
                        <a:srgbClr val="FAF9F5"/>
                      </a:solidFill>
                      <a:prstDash val="solid"/>
                    </a:lnL>
                    <a:lnR w="19050">
                      <a:solidFill>
                        <a:srgbClr val="FAF9F5"/>
                      </a:solidFill>
                      <a:prstDash val="solid"/>
                    </a:lnR>
                    <a:lnT w="19050" cap="flat" cmpd="sng" algn="ctr">
                      <a:solidFill>
                        <a:srgbClr val="FAF9F5"/>
                      </a:solidFill>
                      <a:prstDash val="solid"/>
                      <a:round/>
                      <a:headEnd type="none" w="med" len="med"/>
                      <a:tailEnd type="none" w="med" len="med"/>
                    </a:lnT>
                    <a:lnB w="19050">
                      <a:solidFill>
                        <a:srgbClr val="FAF9F5"/>
                      </a:solidFill>
                      <a:prstDash val="solid"/>
                    </a:lnB>
                    <a:solidFill>
                      <a:srgbClr val="FFFFFF"/>
                    </a:solidFill>
                  </a:tcPr>
                </a:tc>
                <a:tc>
                  <a:txBody>
                    <a:bodyPr/>
                    <a:lstStyle/>
                    <a:p>
                      <a:r>
                        <a:rPr sz="1500" b="1">
                          <a:solidFill>
                            <a:srgbClr val="152D38"/>
                          </a:solidFill>
                          <a:latin typeface="Arial"/>
                          <a:ea typeface="Arial"/>
                          <a:cs typeface="Arial"/>
                        </a:rPr>
                        <a:t>O(1)</a:t>
                      </a:r>
                    </a:p>
                  </a:txBody>
                  <a:tcPr>
                    <a:lnL w="19050" cap="flat" cmpd="sng" algn="ctr">
                      <a:solidFill>
                        <a:srgbClr val="FAF9F5"/>
                      </a:solidFill>
                      <a:prstDash val="solid"/>
                      <a:round/>
                      <a:headEnd type="none" w="med" len="med"/>
                      <a:tailEnd type="none" w="med" len="med"/>
                    </a:lnL>
                    <a:lnR w="19050">
                      <a:solidFill>
                        <a:srgbClr val="FAF9F5"/>
                      </a:solidFill>
                      <a:prstDash val="solid"/>
                    </a:lnR>
                    <a:lnT w="19050" cap="flat" cmpd="sng" algn="ctr">
                      <a:solidFill>
                        <a:srgbClr val="FAF9F5"/>
                      </a:solidFill>
                      <a:prstDash val="solid"/>
                      <a:round/>
                      <a:headEnd type="none" w="med" len="med"/>
                      <a:tailEnd type="none" w="med" len="med"/>
                    </a:lnT>
                    <a:lnB w="19050">
                      <a:solidFill>
                        <a:srgbClr val="FAF9F5"/>
                      </a:solidFill>
                      <a:prstDash val="solid"/>
                    </a:lnB>
                    <a:solidFill>
                      <a:srgbClr val="FFFFFF"/>
                    </a:solidFill>
                  </a:tcPr>
                </a:tc>
                <a:tc>
                  <a:txBody>
                    <a:bodyPr/>
                    <a:lstStyle/>
                    <a:p>
                      <a:r>
                        <a:rPr sz="1500" b="0">
                          <a:solidFill>
                            <a:srgbClr val="152D38"/>
                          </a:solidFill>
                          <a:latin typeface="Arial"/>
                          <a:ea typeface="Arial"/>
                          <a:cs typeface="Arial"/>
                        </a:rPr>
                        <a:t>Use the stored tail pointer</a:t>
                      </a:r>
                    </a:p>
                  </a:txBody>
                  <a:tcPr>
                    <a:lnL w="19050" cap="flat" cmpd="sng" algn="ctr">
                      <a:solidFill>
                        <a:srgbClr val="FAF9F5"/>
                      </a:solidFill>
                      <a:prstDash val="solid"/>
                      <a:round/>
                      <a:headEnd type="none" w="med" len="med"/>
                      <a:tailEnd type="none" w="med" len="med"/>
                    </a:lnL>
                    <a:lnR w="19050">
                      <a:solidFill>
                        <a:srgbClr val="FAF9F5"/>
                      </a:solidFill>
                      <a:prstDash val="solid"/>
                    </a:lnR>
                    <a:lnT w="19050" cap="flat" cmpd="sng" algn="ctr">
                      <a:solidFill>
                        <a:srgbClr val="FAF9F5"/>
                      </a:solidFill>
                      <a:prstDash val="solid"/>
                      <a:round/>
                      <a:headEnd type="none" w="med" len="med"/>
                      <a:tailEnd type="none" w="med" len="med"/>
                    </a:lnT>
                    <a:lnB w="19050">
                      <a:solidFill>
                        <a:srgbClr val="FAF9F5"/>
                      </a:solidFill>
                      <a:prstDash val="solid"/>
                    </a:lnB>
                    <a:solidFill>
                      <a:srgbClr val="FFFFFF"/>
                    </a:solidFill>
                  </a:tcPr>
                </a:tc>
                <a:extLst>
                  <a:ext uri="{0D108BD9-81ED-4DB2-BD59-A6C34878D82A}">
                    <a16:rowId xmlns:a16="http://schemas.microsoft.com/office/drawing/2014/main" val="10001"/>
                  </a:ext>
                </a:extLst>
              </a:tr>
              <a:tr h="458152">
                <a:tc>
                  <a:txBody>
                    <a:bodyPr/>
                    <a:lstStyle/>
                    <a:p>
                      <a:r>
                        <a:rPr sz="1500" b="0">
                          <a:solidFill>
                            <a:srgbClr val="152D38"/>
                          </a:solidFill>
                          <a:latin typeface="Arial"/>
                          <a:ea typeface="Arial"/>
                          <a:cs typeface="Arial"/>
                        </a:rPr>
                        <a:t>Next / Previous</a:t>
                      </a:r>
                    </a:p>
                  </a:txBody>
                  <a:tcPr>
                    <a:lnL w="19050">
                      <a:solidFill>
                        <a:srgbClr val="FAF9F5"/>
                      </a:solidFill>
                      <a:prstDash val="solid"/>
                    </a:lnL>
                    <a:lnR w="19050">
                      <a:solidFill>
                        <a:srgbClr val="FAF9F5"/>
                      </a:solidFill>
                      <a:prstDash val="solid"/>
                    </a:lnR>
                    <a:lnT w="19050" cap="flat" cmpd="sng" algn="ctr">
                      <a:solidFill>
                        <a:srgbClr val="FAF9F5"/>
                      </a:solidFill>
                      <a:prstDash val="solid"/>
                      <a:round/>
                      <a:headEnd type="none" w="med" len="med"/>
                      <a:tailEnd type="none" w="med" len="med"/>
                    </a:lnT>
                    <a:lnB w="19050">
                      <a:solidFill>
                        <a:srgbClr val="FAF9F5"/>
                      </a:solidFill>
                      <a:prstDash val="solid"/>
                    </a:lnB>
                    <a:solidFill>
                      <a:srgbClr val="E6F0EC"/>
                    </a:solidFill>
                  </a:tcPr>
                </a:tc>
                <a:tc>
                  <a:txBody>
                    <a:bodyPr/>
                    <a:lstStyle/>
                    <a:p>
                      <a:r>
                        <a:rPr sz="1500" b="1">
                          <a:solidFill>
                            <a:srgbClr val="152D38"/>
                          </a:solidFill>
                          <a:latin typeface="Arial"/>
                          <a:ea typeface="Arial"/>
                          <a:cs typeface="Arial"/>
                        </a:rPr>
                        <a:t>O(1)</a:t>
                      </a:r>
                    </a:p>
                  </a:txBody>
                  <a:tcPr>
                    <a:lnL w="19050" cap="flat" cmpd="sng" algn="ctr">
                      <a:solidFill>
                        <a:srgbClr val="FAF9F5"/>
                      </a:solidFill>
                      <a:prstDash val="solid"/>
                      <a:round/>
                      <a:headEnd type="none" w="med" len="med"/>
                      <a:tailEnd type="none" w="med" len="med"/>
                    </a:lnL>
                    <a:lnR w="19050">
                      <a:solidFill>
                        <a:srgbClr val="FAF9F5"/>
                      </a:solidFill>
                      <a:prstDash val="solid"/>
                    </a:lnR>
                    <a:lnT w="19050" cap="flat" cmpd="sng" algn="ctr">
                      <a:solidFill>
                        <a:srgbClr val="FAF9F5"/>
                      </a:solidFill>
                      <a:prstDash val="solid"/>
                      <a:round/>
                      <a:headEnd type="none" w="med" len="med"/>
                      <a:tailEnd type="none" w="med" len="med"/>
                    </a:lnT>
                    <a:lnB w="19050">
                      <a:solidFill>
                        <a:srgbClr val="FAF9F5"/>
                      </a:solidFill>
                      <a:prstDash val="solid"/>
                    </a:lnB>
                    <a:solidFill>
                      <a:srgbClr val="E6F0EC"/>
                    </a:solidFill>
                  </a:tcPr>
                </a:tc>
                <a:tc>
                  <a:txBody>
                    <a:bodyPr/>
                    <a:lstStyle/>
                    <a:p>
                      <a:r>
                        <a:rPr sz="1500" b="0">
                          <a:solidFill>
                            <a:srgbClr val="152D38"/>
                          </a:solidFill>
                          <a:latin typeface="Arial"/>
                          <a:ea typeface="Arial"/>
                          <a:cs typeface="Arial"/>
                        </a:rPr>
                        <a:t>Follow an adjacent link</a:t>
                      </a:r>
                    </a:p>
                  </a:txBody>
                  <a:tcPr>
                    <a:lnL w="19050" cap="flat" cmpd="sng" algn="ctr">
                      <a:solidFill>
                        <a:srgbClr val="FAF9F5"/>
                      </a:solidFill>
                      <a:prstDash val="solid"/>
                      <a:round/>
                      <a:headEnd type="none" w="med" len="med"/>
                      <a:tailEnd type="none" w="med" len="med"/>
                    </a:lnL>
                    <a:lnR w="19050">
                      <a:solidFill>
                        <a:srgbClr val="FAF9F5"/>
                      </a:solidFill>
                      <a:prstDash val="solid"/>
                    </a:lnR>
                    <a:lnT w="19050" cap="flat" cmpd="sng" algn="ctr">
                      <a:solidFill>
                        <a:srgbClr val="FAF9F5"/>
                      </a:solidFill>
                      <a:prstDash val="solid"/>
                      <a:round/>
                      <a:headEnd type="none" w="med" len="med"/>
                      <a:tailEnd type="none" w="med" len="med"/>
                    </a:lnT>
                    <a:lnB w="19050">
                      <a:solidFill>
                        <a:srgbClr val="FAF9F5"/>
                      </a:solidFill>
                      <a:prstDash val="solid"/>
                    </a:lnB>
                    <a:solidFill>
                      <a:srgbClr val="E6F0EC"/>
                    </a:solidFill>
                  </a:tcPr>
                </a:tc>
                <a:extLst>
                  <a:ext uri="{0D108BD9-81ED-4DB2-BD59-A6C34878D82A}">
                    <a16:rowId xmlns:a16="http://schemas.microsoft.com/office/drawing/2014/main" val="10002"/>
                  </a:ext>
                </a:extLst>
              </a:tr>
              <a:tr h="458152">
                <a:tc>
                  <a:txBody>
                    <a:bodyPr/>
                    <a:lstStyle/>
                    <a:p>
                      <a:r>
                        <a:rPr sz="1500" b="0">
                          <a:solidFill>
                            <a:srgbClr val="152D38"/>
                          </a:solidFill>
                          <a:latin typeface="Arial"/>
                          <a:ea typeface="Arial"/>
                          <a:cs typeface="Arial"/>
                        </a:rPr>
                        <a:t>Select / Delete by ID</a:t>
                      </a:r>
                    </a:p>
                  </a:txBody>
                  <a:tcPr>
                    <a:lnL w="19050">
                      <a:solidFill>
                        <a:srgbClr val="FAF9F5"/>
                      </a:solidFill>
                      <a:prstDash val="solid"/>
                    </a:lnL>
                    <a:lnR w="19050">
                      <a:solidFill>
                        <a:srgbClr val="FAF9F5"/>
                      </a:solidFill>
                      <a:prstDash val="solid"/>
                    </a:lnR>
                    <a:lnT w="19050" cap="flat" cmpd="sng" algn="ctr">
                      <a:solidFill>
                        <a:srgbClr val="FAF9F5"/>
                      </a:solidFill>
                      <a:prstDash val="solid"/>
                      <a:round/>
                      <a:headEnd type="none" w="med" len="med"/>
                      <a:tailEnd type="none" w="med" len="med"/>
                    </a:lnT>
                    <a:lnB w="19050">
                      <a:solidFill>
                        <a:srgbClr val="FAF9F5"/>
                      </a:solidFill>
                      <a:prstDash val="solid"/>
                    </a:lnB>
                    <a:solidFill>
                      <a:srgbClr val="FFFFFF"/>
                    </a:solidFill>
                  </a:tcPr>
                </a:tc>
                <a:tc>
                  <a:txBody>
                    <a:bodyPr/>
                    <a:lstStyle/>
                    <a:p>
                      <a:r>
                        <a:rPr sz="1500" b="1">
                          <a:solidFill>
                            <a:srgbClr val="152D38"/>
                          </a:solidFill>
                          <a:latin typeface="Arial"/>
                          <a:ea typeface="Arial"/>
                          <a:cs typeface="Arial"/>
                        </a:rPr>
                        <a:t>O(n)</a:t>
                      </a:r>
                    </a:p>
                  </a:txBody>
                  <a:tcPr>
                    <a:lnL w="19050" cap="flat" cmpd="sng" algn="ctr">
                      <a:solidFill>
                        <a:srgbClr val="FAF9F5"/>
                      </a:solidFill>
                      <a:prstDash val="solid"/>
                      <a:round/>
                      <a:headEnd type="none" w="med" len="med"/>
                      <a:tailEnd type="none" w="med" len="med"/>
                    </a:lnL>
                    <a:lnR w="19050">
                      <a:solidFill>
                        <a:srgbClr val="FAF9F5"/>
                      </a:solidFill>
                      <a:prstDash val="solid"/>
                    </a:lnR>
                    <a:lnT w="19050" cap="flat" cmpd="sng" algn="ctr">
                      <a:solidFill>
                        <a:srgbClr val="FAF9F5"/>
                      </a:solidFill>
                      <a:prstDash val="solid"/>
                      <a:round/>
                      <a:headEnd type="none" w="med" len="med"/>
                      <a:tailEnd type="none" w="med" len="med"/>
                    </a:lnT>
                    <a:lnB w="19050">
                      <a:solidFill>
                        <a:srgbClr val="FAF9F5"/>
                      </a:solidFill>
                      <a:prstDash val="solid"/>
                    </a:lnB>
                    <a:solidFill>
                      <a:srgbClr val="FFFFFF"/>
                    </a:solidFill>
                  </a:tcPr>
                </a:tc>
                <a:tc>
                  <a:txBody>
                    <a:bodyPr/>
                    <a:lstStyle/>
                    <a:p>
                      <a:r>
                        <a:rPr sz="1500" b="0">
                          <a:solidFill>
                            <a:srgbClr val="152D38"/>
                          </a:solidFill>
                          <a:latin typeface="Arial"/>
                          <a:ea typeface="Arial"/>
                          <a:cs typeface="Arial"/>
                        </a:rPr>
                        <a:t>Search before updating the node</a:t>
                      </a:r>
                    </a:p>
                  </a:txBody>
                  <a:tcPr>
                    <a:lnL w="19050" cap="flat" cmpd="sng" algn="ctr">
                      <a:solidFill>
                        <a:srgbClr val="FAF9F5"/>
                      </a:solidFill>
                      <a:prstDash val="solid"/>
                      <a:round/>
                      <a:headEnd type="none" w="med" len="med"/>
                      <a:tailEnd type="none" w="med" len="med"/>
                    </a:lnL>
                    <a:lnR w="19050">
                      <a:solidFill>
                        <a:srgbClr val="FAF9F5"/>
                      </a:solidFill>
                      <a:prstDash val="solid"/>
                    </a:lnR>
                    <a:lnT w="19050" cap="flat" cmpd="sng" algn="ctr">
                      <a:solidFill>
                        <a:srgbClr val="FAF9F5"/>
                      </a:solidFill>
                      <a:prstDash val="solid"/>
                      <a:round/>
                      <a:headEnd type="none" w="med" len="med"/>
                      <a:tailEnd type="none" w="med" len="med"/>
                    </a:lnT>
                    <a:lnB w="19050">
                      <a:solidFill>
                        <a:srgbClr val="FAF9F5"/>
                      </a:solidFill>
                      <a:prstDash val="solid"/>
                    </a:lnB>
                    <a:solidFill>
                      <a:srgbClr val="FFFFFF"/>
                    </a:solidFill>
                  </a:tcPr>
                </a:tc>
                <a:extLst>
                  <a:ext uri="{0D108BD9-81ED-4DB2-BD59-A6C34878D82A}">
                    <a16:rowId xmlns:a16="http://schemas.microsoft.com/office/drawing/2014/main" val="10003"/>
                  </a:ext>
                </a:extLst>
              </a:tr>
              <a:tr h="458152">
                <a:tc>
                  <a:txBody>
                    <a:bodyPr/>
                    <a:lstStyle/>
                    <a:p>
                      <a:r>
                        <a:rPr sz="1500" b="0">
                          <a:solidFill>
                            <a:srgbClr val="152D38"/>
                          </a:solidFill>
                          <a:latin typeface="Arial"/>
                          <a:ea typeface="Arial"/>
                          <a:cs typeface="Arial"/>
                        </a:rPr>
                        <a:t>Reverse</a:t>
                      </a:r>
                    </a:p>
                  </a:txBody>
                  <a:tcPr>
                    <a:lnL w="19050">
                      <a:solidFill>
                        <a:srgbClr val="FAF9F5"/>
                      </a:solidFill>
                      <a:prstDash val="solid"/>
                    </a:lnL>
                    <a:lnR w="19050">
                      <a:solidFill>
                        <a:srgbClr val="FAF9F5"/>
                      </a:solidFill>
                      <a:prstDash val="solid"/>
                    </a:lnR>
                    <a:lnT w="19050" cap="flat" cmpd="sng" algn="ctr">
                      <a:solidFill>
                        <a:srgbClr val="FAF9F5"/>
                      </a:solidFill>
                      <a:prstDash val="solid"/>
                      <a:round/>
                      <a:headEnd type="none" w="med" len="med"/>
                      <a:tailEnd type="none" w="med" len="med"/>
                    </a:lnT>
                    <a:lnB w="19050">
                      <a:solidFill>
                        <a:srgbClr val="FAF9F5"/>
                      </a:solidFill>
                      <a:prstDash val="solid"/>
                    </a:lnB>
                    <a:solidFill>
                      <a:srgbClr val="E6F0EC"/>
                    </a:solidFill>
                  </a:tcPr>
                </a:tc>
                <a:tc>
                  <a:txBody>
                    <a:bodyPr/>
                    <a:lstStyle/>
                    <a:p>
                      <a:r>
                        <a:rPr sz="1500" b="1">
                          <a:solidFill>
                            <a:srgbClr val="152D38"/>
                          </a:solidFill>
                          <a:latin typeface="Arial"/>
                          <a:ea typeface="Arial"/>
                          <a:cs typeface="Arial"/>
                        </a:rPr>
                        <a:t>O(n)</a:t>
                      </a:r>
                    </a:p>
                  </a:txBody>
                  <a:tcPr>
                    <a:lnL w="19050" cap="flat" cmpd="sng" algn="ctr">
                      <a:solidFill>
                        <a:srgbClr val="FAF9F5"/>
                      </a:solidFill>
                      <a:prstDash val="solid"/>
                      <a:round/>
                      <a:headEnd type="none" w="med" len="med"/>
                      <a:tailEnd type="none" w="med" len="med"/>
                    </a:lnL>
                    <a:lnR w="19050">
                      <a:solidFill>
                        <a:srgbClr val="FAF9F5"/>
                      </a:solidFill>
                      <a:prstDash val="solid"/>
                    </a:lnR>
                    <a:lnT w="19050" cap="flat" cmpd="sng" algn="ctr">
                      <a:solidFill>
                        <a:srgbClr val="FAF9F5"/>
                      </a:solidFill>
                      <a:prstDash val="solid"/>
                      <a:round/>
                      <a:headEnd type="none" w="med" len="med"/>
                      <a:tailEnd type="none" w="med" len="med"/>
                    </a:lnT>
                    <a:lnB w="19050">
                      <a:solidFill>
                        <a:srgbClr val="FAF9F5"/>
                      </a:solidFill>
                      <a:prstDash val="solid"/>
                    </a:lnB>
                    <a:solidFill>
                      <a:srgbClr val="E6F0EC"/>
                    </a:solidFill>
                  </a:tcPr>
                </a:tc>
                <a:tc>
                  <a:txBody>
                    <a:bodyPr/>
                    <a:lstStyle/>
                    <a:p>
                      <a:r>
                        <a:rPr sz="1500" b="0">
                          <a:solidFill>
                            <a:srgbClr val="152D38"/>
                          </a:solidFill>
                          <a:latin typeface="Arial"/>
                          <a:ea typeface="Arial"/>
                          <a:cs typeface="Arial"/>
                        </a:rPr>
                        <a:t>Swap both links in every node</a:t>
                      </a:r>
                    </a:p>
                  </a:txBody>
                  <a:tcPr>
                    <a:lnL w="19050" cap="flat" cmpd="sng" algn="ctr">
                      <a:solidFill>
                        <a:srgbClr val="FAF9F5"/>
                      </a:solidFill>
                      <a:prstDash val="solid"/>
                      <a:round/>
                      <a:headEnd type="none" w="med" len="med"/>
                      <a:tailEnd type="none" w="med" len="med"/>
                    </a:lnL>
                    <a:lnR w="19050">
                      <a:solidFill>
                        <a:srgbClr val="FAF9F5"/>
                      </a:solidFill>
                      <a:prstDash val="solid"/>
                    </a:lnR>
                    <a:lnT w="19050" cap="flat" cmpd="sng" algn="ctr">
                      <a:solidFill>
                        <a:srgbClr val="FAF9F5"/>
                      </a:solidFill>
                      <a:prstDash val="solid"/>
                      <a:round/>
                      <a:headEnd type="none" w="med" len="med"/>
                      <a:tailEnd type="none" w="med" len="med"/>
                    </a:lnT>
                    <a:lnB w="19050">
                      <a:solidFill>
                        <a:srgbClr val="FAF9F5"/>
                      </a:solidFill>
                      <a:prstDash val="solid"/>
                    </a:lnB>
                    <a:solidFill>
                      <a:srgbClr val="E6F0EC"/>
                    </a:solidFill>
                  </a:tcPr>
                </a:tc>
                <a:extLst>
                  <a:ext uri="{0D108BD9-81ED-4DB2-BD59-A6C34878D82A}">
                    <a16:rowId xmlns:a16="http://schemas.microsoft.com/office/drawing/2014/main" val="10004"/>
                  </a:ext>
                </a:extLst>
              </a:tr>
              <a:tr h="458152">
                <a:tc>
                  <a:txBody>
                    <a:bodyPr/>
                    <a:lstStyle/>
                    <a:p>
                      <a:r>
                        <a:rPr sz="1500" b="0">
                          <a:solidFill>
                            <a:srgbClr val="152D38"/>
                          </a:solidFill>
                          <a:latin typeface="Arial"/>
                          <a:ea typeface="Arial"/>
                          <a:cs typeface="Arial"/>
                        </a:rPr>
                        <a:t>Merge B into A</a:t>
                      </a:r>
                    </a:p>
                  </a:txBody>
                  <a:tcPr>
                    <a:lnL w="19050">
                      <a:solidFill>
                        <a:srgbClr val="FAF9F5"/>
                      </a:solidFill>
                      <a:prstDash val="solid"/>
                    </a:lnL>
                    <a:lnR w="19050">
                      <a:solidFill>
                        <a:srgbClr val="FAF9F5"/>
                      </a:solidFill>
                      <a:prstDash val="solid"/>
                    </a:lnR>
                    <a:lnT w="19050" cap="flat" cmpd="sng" algn="ctr">
                      <a:solidFill>
                        <a:srgbClr val="FAF9F5"/>
                      </a:solidFill>
                      <a:prstDash val="solid"/>
                      <a:round/>
                      <a:headEnd type="none" w="med" len="med"/>
                      <a:tailEnd type="none" w="med" len="med"/>
                    </a:lnT>
                    <a:lnB w="19050">
                      <a:solidFill>
                        <a:srgbClr val="FAF9F5"/>
                      </a:solidFill>
                      <a:prstDash val="solid"/>
                    </a:lnB>
                    <a:solidFill>
                      <a:srgbClr val="FFFFFF"/>
                    </a:solidFill>
                  </a:tcPr>
                </a:tc>
                <a:tc>
                  <a:txBody>
                    <a:bodyPr/>
                    <a:lstStyle/>
                    <a:p>
                      <a:r>
                        <a:rPr sz="1500" b="1">
                          <a:solidFill>
                            <a:srgbClr val="152D38"/>
                          </a:solidFill>
                          <a:latin typeface="Arial"/>
                          <a:ea typeface="Arial"/>
                          <a:cs typeface="Arial"/>
                        </a:rPr>
                        <a:t>O(1)</a:t>
                      </a:r>
                    </a:p>
                  </a:txBody>
                  <a:tcPr>
                    <a:lnL w="19050" cap="flat" cmpd="sng" algn="ctr">
                      <a:solidFill>
                        <a:srgbClr val="FAF9F5"/>
                      </a:solidFill>
                      <a:prstDash val="solid"/>
                      <a:round/>
                      <a:headEnd type="none" w="med" len="med"/>
                      <a:tailEnd type="none" w="med" len="med"/>
                    </a:lnL>
                    <a:lnR w="19050">
                      <a:solidFill>
                        <a:srgbClr val="FAF9F5"/>
                      </a:solidFill>
                      <a:prstDash val="solid"/>
                    </a:lnR>
                    <a:lnT w="19050" cap="flat" cmpd="sng" algn="ctr">
                      <a:solidFill>
                        <a:srgbClr val="FAF9F5"/>
                      </a:solidFill>
                      <a:prstDash val="solid"/>
                      <a:round/>
                      <a:headEnd type="none" w="med" len="med"/>
                      <a:tailEnd type="none" w="med" len="med"/>
                    </a:lnT>
                    <a:lnB w="19050">
                      <a:solidFill>
                        <a:srgbClr val="FAF9F5"/>
                      </a:solidFill>
                      <a:prstDash val="solid"/>
                    </a:lnB>
                    <a:solidFill>
                      <a:srgbClr val="FFFFFF"/>
                    </a:solidFill>
                  </a:tcPr>
                </a:tc>
                <a:tc>
                  <a:txBody>
                    <a:bodyPr/>
                    <a:lstStyle/>
                    <a:p>
                      <a:r>
                        <a:rPr sz="1500" b="0">
                          <a:solidFill>
                            <a:srgbClr val="152D38"/>
                          </a:solidFill>
                          <a:latin typeface="Arial"/>
                          <a:ea typeface="Arial"/>
                          <a:cs typeface="Arial"/>
                        </a:rPr>
                        <a:t>Join endpoints and clear B ownership</a:t>
                      </a:r>
                    </a:p>
                  </a:txBody>
                  <a:tcPr>
                    <a:lnL w="19050" cap="flat" cmpd="sng" algn="ctr">
                      <a:solidFill>
                        <a:srgbClr val="FAF9F5"/>
                      </a:solidFill>
                      <a:prstDash val="solid"/>
                      <a:round/>
                      <a:headEnd type="none" w="med" len="med"/>
                      <a:tailEnd type="none" w="med" len="med"/>
                    </a:lnL>
                    <a:lnR w="19050">
                      <a:solidFill>
                        <a:srgbClr val="FAF9F5"/>
                      </a:solidFill>
                      <a:prstDash val="solid"/>
                    </a:lnR>
                    <a:lnT w="19050" cap="flat" cmpd="sng" algn="ctr">
                      <a:solidFill>
                        <a:srgbClr val="FAF9F5"/>
                      </a:solidFill>
                      <a:prstDash val="solid"/>
                      <a:round/>
                      <a:headEnd type="none" w="med" len="med"/>
                      <a:tailEnd type="none" w="med" len="med"/>
                    </a:lnT>
                    <a:lnB w="19050">
                      <a:solidFill>
                        <a:srgbClr val="FAF9F5"/>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5" name="Rectangle 4">
            <a:extLst>
              <a:ext uri="{FF2B5EF4-FFF2-40B4-BE49-F238E27FC236}">
                <a16:creationId xmlns:a16="http://schemas.microsoft.com/office/drawing/2014/main" id="{54BAE751-0331-46B1-B550-D6C0E029B73C}"/>
              </a:ext>
            </a:extLst>
          </p:cNvPr>
          <p:cNvSpPr>
            <a:spLocks noGrp="1"/>
          </p:cNvSpPr>
          <p:nvPr/>
        </p:nvSpPr>
        <p:spPr>
          <a:xfrm>
            <a:off x="609600" y="4590097"/>
            <a:ext cx="10972800" cy="451104"/>
          </a:xfrm>
          <a:prstGeom prst="rect">
            <a:avLst/>
          </a:prstGeom>
          <a:noFill/>
          <a:ln w="0">
            <a:noFill/>
            <a:prstDash val="solid"/>
          </a:ln>
        </p:spPr>
        <p:txBody>
          <a:bodyPr lIns="0" tIns="0" rIns="0" bIns="0" anchor="t"/>
          <a:lstStyle>
            <a:defPPr>
              <a:defRPr sz="1380" b="0">
                <a:solidFill>
                  <a:srgbClr val="586A70"/>
                </a:solidFill>
                <a:latin typeface="Arial"/>
                <a:ea typeface="Arial"/>
                <a:cs typeface="Arial"/>
              </a:defRPr>
            </a:defPPr>
          </a:lstStyle>
          <a:p>
            <a:pPr>
              <a:defRPr sz="1380" b="0">
                <a:solidFill>
                  <a:srgbClr val="586A70"/>
                </a:solidFill>
                <a:latin typeface="Arial"/>
                <a:ea typeface="Arial"/>
                <a:cs typeface="Arial"/>
              </a:defRPr>
            </a:pPr>
            <a:r>
              <a:rPr sz="1380" b="0">
                <a:solidFill>
                  <a:srgbClr val="586A70"/>
                </a:solidFill>
                <a:latin typeface="Arial"/>
                <a:ea typeface="Arial"/>
                <a:cs typeface="Arial"/>
              </a:rPr>
              <a:t>n = nodes in one playlist. N = total stored nodes. Storage is O(N).</a:t>
            </a:r>
          </a:p>
          <a:p>
            <a:pPr>
              <a:defRPr sz="1380" b="0">
                <a:solidFill>
                  <a:srgbClr val="586A70"/>
                </a:solidFill>
                <a:latin typeface="Arial"/>
                <a:ea typeface="Arial"/>
                <a:cs typeface="Arial"/>
              </a:defRPr>
            </a:pPr>
            <a:r>
              <a:rPr sz="1380" b="0">
                <a:solidFill>
                  <a:srgbClr val="586A70"/>
                </a:solidFill>
                <a:latin typeface="Arial"/>
                <a:ea typeface="Arial"/>
                <a:cs typeface="Arial"/>
              </a:rPr>
              <a:t>State snapshots and JSON add O(N) work per request.</a:t>
            </a:r>
          </a:p>
        </p:txBody>
      </p:sp>
      <p:sp>
        <p:nvSpPr>
          <p:cNvPr id="7" name="Presentation explanation">
            <a:extLst>
              <a:ext uri="{FF2B5EF4-FFF2-40B4-BE49-F238E27FC236}">
                <a16:creationId xmlns:a16="http://schemas.microsoft.com/office/drawing/2014/main" id="{3BAF21F6-97B1-453C-AFE8-183964303A84}"/>
              </a:ext>
            </a:extLst>
          </p:cNvPr>
          <p:cNvSpPr>
            <a:spLocks noGrp="1"/>
          </p:cNvSpPr>
          <p:nvPr/>
        </p:nvSpPr>
        <p:spPr>
          <a:xfrm>
            <a:off x="609600" y="5534025"/>
            <a:ext cx="10972800" cy="1000125"/>
          </a:xfrm>
          <a:prstGeom prst="rect">
            <a:avLst/>
          </a:prstGeom>
          <a:noFill/>
          <a:ln w="0">
            <a:noFill/>
          </a:ln>
        </p:spPr>
        <p:txBody>
          <a:bodyPr lIns="0" tIns="0" rIns="0" bIns="0" anchor="t"/>
          <a:lstStyle>
            <a:defPPr>
              <a:defRPr sz="1800">
                <a:solidFill>
                  <a:srgbClr val="152D38"/>
                </a:solidFill>
                <a:latin typeface="Arial"/>
                <a:ea typeface="Arial"/>
                <a:cs typeface="Arial"/>
              </a:defRPr>
            </a:defPPr>
          </a:lstStyle>
          <a:p>
            <a:pPr>
              <a:defRPr sz="1800">
                <a:solidFill>
                  <a:srgbClr val="152D38"/>
                </a:solidFill>
                <a:latin typeface="Arial"/>
                <a:ea typeface="Arial"/>
                <a:cs typeface="Arial"/>
              </a:defRPr>
            </a:pPr>
            <a:r>
              <a:rPr sz="1800">
                <a:solidFill>
                  <a:srgbClr val="152D38"/>
                </a:solidFill>
                <a:latin typeface="Arial"/>
                <a:ea typeface="Arial"/>
                <a:cs typeface="Arial"/>
              </a:rPr>
              <a:t>Append and adjacent navigation take constant time, while searching by ID and reversing require traversal. Merge joins endpoints in constant time at the core, but snapshots and JSON add linear work to the complete request.</a:t>
            </a:r>
          </a:p>
        </p:txBody>
      </p:sp>
    </p:spTree>
    <p:extLst>
      <p:ext uri="{BB962C8B-B14F-4D97-AF65-F5344CB8AC3E}">
        <p14:creationId xmlns:p14="http://schemas.microsoft.com/office/powerpoint/2010/main" val="1933057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95E24329-607B-4AC2-B473-F41C08AE6927}"/>
              </a:ext>
            </a:extLst>
          </p:cNvPr>
          <p:cNvSpPr>
            <a:spLocks noGrp="1"/>
          </p:cNvSpPr>
          <p:nvPr/>
        </p:nvSpPr>
        <p:spPr>
          <a:xfrm>
            <a:off x="609600" y="495300"/>
            <a:ext cx="10953750" cy="666750"/>
          </a:xfrm>
          <a:prstGeom prst="rect">
            <a:avLst/>
          </a:prstGeom>
          <a:noFill/>
          <a:ln w="0">
            <a:noFill/>
            <a:prstDash val="solid"/>
          </a:ln>
        </p:spPr>
        <p:txBody>
          <a:bodyPr lIns="0" tIns="0" rIns="0" bIns="0" anchor="t"/>
          <a:lstStyle>
            <a:defPPr>
              <a:defRPr sz="3300" b="1">
                <a:solidFill>
                  <a:srgbClr val="152D38"/>
                </a:solidFill>
                <a:latin typeface="Arial"/>
                <a:ea typeface="Arial"/>
                <a:cs typeface="Arial"/>
              </a:defRPr>
            </a:defPPr>
          </a:lstStyle>
          <a:p>
            <a:pPr>
              <a:defRPr sz="3300" b="1">
                <a:solidFill>
                  <a:srgbClr val="152D38"/>
                </a:solidFill>
                <a:latin typeface="Arial"/>
                <a:ea typeface="Arial"/>
                <a:cs typeface="Arial"/>
              </a:defRPr>
            </a:pPr>
            <a:r>
              <a:rPr sz="3300" b="1">
                <a:solidFill>
                  <a:srgbClr val="152D38"/>
                </a:solidFill>
                <a:latin typeface="Arial"/>
                <a:ea typeface="Arial"/>
                <a:cs typeface="Arial"/>
              </a:rPr>
              <a:t>Implementation</a:t>
            </a:r>
          </a:p>
        </p:txBody>
      </p:sp>
      <p:sp>
        <p:nvSpPr>
          <p:cNvPr id="2" name="Rectangle 1">
            <a:extLst>
              <a:ext uri="{FF2B5EF4-FFF2-40B4-BE49-F238E27FC236}">
                <a16:creationId xmlns:a16="http://schemas.microsoft.com/office/drawing/2014/main" id="{7886DC4F-B681-4AB4-AD1F-07CA8B0BA2E3}"/>
              </a:ext>
            </a:extLst>
          </p:cNvPr>
          <p:cNvSpPr>
            <a:spLocks noGrp="1"/>
          </p:cNvSpPr>
          <p:nvPr/>
        </p:nvSpPr>
        <p:spPr>
          <a:xfrm>
            <a:off x="609600" y="1314450"/>
            <a:ext cx="609600" cy="38100"/>
          </a:xfrm>
          <a:prstGeom prst="rect">
            <a:avLst/>
          </a:prstGeom>
          <a:solidFill>
            <a:srgbClr val="16786D"/>
          </a:solidFill>
          <a:ln w="0">
            <a:noFill/>
            <a:prstDash val="solid"/>
          </a:ln>
        </p:spPr>
      </p:sp>
      <p:sp>
        <p:nvSpPr>
          <p:cNvPr id="3" name="Rectangle 2">
            <a:extLst>
              <a:ext uri="{FF2B5EF4-FFF2-40B4-BE49-F238E27FC236}">
                <a16:creationId xmlns:a16="http://schemas.microsoft.com/office/drawing/2014/main" id="{A60A22BA-039D-4CF4-BFDE-E528295A2E9E}"/>
              </a:ext>
            </a:extLst>
          </p:cNvPr>
          <p:cNvSpPr>
            <a:spLocks noGrp="1"/>
          </p:cNvSpPr>
          <p:nvPr/>
        </p:nvSpPr>
        <p:spPr>
          <a:xfrm>
            <a:off x="11125200" y="6629400"/>
            <a:ext cx="476250" cy="228600"/>
          </a:xfrm>
          <a:prstGeom prst="rect">
            <a:avLst/>
          </a:prstGeom>
          <a:noFill/>
          <a:ln w="0">
            <a:noFill/>
            <a:prstDash val="solid"/>
          </a:ln>
        </p:spPr>
        <p:txBody>
          <a:bodyPr lIns="0" tIns="0" rIns="0" bIns="0" anchor="t"/>
          <a:lstStyle>
            <a:defPPr>
              <a:defRPr sz="1200" b="0">
                <a:solidFill>
                  <a:srgbClr val="586A70"/>
                </a:solidFill>
                <a:latin typeface="Arial"/>
                <a:ea typeface="Arial"/>
                <a:cs typeface="Arial"/>
              </a:defRPr>
            </a:defPPr>
          </a:lstStyle>
          <a:p>
            <a:pPr>
              <a:defRPr sz="1200" b="0">
                <a:solidFill>
                  <a:srgbClr val="586A70"/>
                </a:solidFill>
                <a:latin typeface="Arial"/>
                <a:ea typeface="Arial"/>
                <a:cs typeface="Arial"/>
              </a:defRPr>
            </a:pPr>
            <a:r>
              <a:rPr sz="1200" b="0">
                <a:solidFill>
                  <a:srgbClr val="586A70"/>
                </a:solidFill>
                <a:latin typeface="Arial"/>
                <a:ea typeface="Arial"/>
                <a:cs typeface="Arial"/>
              </a:rPr>
              <a:t>07</a:t>
            </a:r>
          </a:p>
        </p:txBody>
      </p:sp>
      <p:sp>
        <p:nvSpPr>
          <p:cNvPr id="4" name="Rectangle 3">
            <a:extLst>
              <a:ext uri="{FF2B5EF4-FFF2-40B4-BE49-F238E27FC236}">
                <a16:creationId xmlns:a16="http://schemas.microsoft.com/office/drawing/2014/main" id="{FF0FAA57-A623-4B1A-9771-00D83A352C3B}"/>
              </a:ext>
            </a:extLst>
          </p:cNvPr>
          <p:cNvSpPr>
            <a:spLocks noGrp="1"/>
          </p:cNvSpPr>
          <p:nvPr/>
        </p:nvSpPr>
        <p:spPr>
          <a:xfrm>
            <a:off x="609600" y="1735455"/>
            <a:ext cx="4762500" cy="317182"/>
          </a:xfrm>
          <a:prstGeom prst="rect">
            <a:avLst/>
          </a:prstGeom>
          <a:noFill/>
          <a:ln w="0">
            <a:noFill/>
            <a:prstDash val="solid"/>
          </a:ln>
        </p:spPr>
        <p:txBody>
          <a:bodyPr lIns="0" tIns="0" rIns="0" bIns="0" anchor="t"/>
          <a:lstStyle>
            <a:defPPr>
              <a:defRPr sz="1800" b="1">
                <a:solidFill>
                  <a:srgbClr val="16786D"/>
                </a:solidFill>
                <a:latin typeface="Arial"/>
                <a:ea typeface="Arial"/>
                <a:cs typeface="Arial"/>
              </a:defRPr>
            </a:defPPr>
          </a:lstStyle>
          <a:p>
            <a:pPr>
              <a:defRPr sz="1800" b="1">
                <a:solidFill>
                  <a:srgbClr val="16786D"/>
                </a:solidFill>
                <a:latin typeface="Arial"/>
                <a:ea typeface="Arial"/>
                <a:cs typeface="Arial"/>
              </a:defRPr>
            </a:pPr>
            <a:r>
              <a:rPr sz="1800" b="1">
                <a:solidFill>
                  <a:srgbClr val="16786D"/>
                </a:solidFill>
                <a:latin typeface="Arial"/>
                <a:ea typeface="Arial"/>
                <a:cs typeface="Arial"/>
              </a:rPr>
              <a:t>C backend</a:t>
            </a:r>
          </a:p>
        </p:txBody>
      </p:sp>
      <p:sp>
        <p:nvSpPr>
          <p:cNvPr id="5" name="Rectangle 4">
            <a:extLst>
              <a:ext uri="{FF2B5EF4-FFF2-40B4-BE49-F238E27FC236}">
                <a16:creationId xmlns:a16="http://schemas.microsoft.com/office/drawing/2014/main" id="{ECDBE8E5-3C76-4619-B6B8-236C1FD63466}"/>
              </a:ext>
            </a:extLst>
          </p:cNvPr>
          <p:cNvSpPr>
            <a:spLocks noGrp="1"/>
          </p:cNvSpPr>
          <p:nvPr/>
        </p:nvSpPr>
        <p:spPr>
          <a:xfrm>
            <a:off x="609600" y="2151316"/>
            <a:ext cx="4762500" cy="310134"/>
          </a:xfrm>
          <a:prstGeom prst="rect">
            <a:avLst/>
          </a:prstGeom>
          <a:noFill/>
          <a:ln w="0">
            <a:noFill/>
            <a:prstDash val="solid"/>
          </a:ln>
        </p:spPr>
        <p:txBody>
          <a:bodyPr lIns="0" tIns="0" rIns="0" bIns="0" anchor="t"/>
          <a:lstStyle>
            <a:defPPr>
              <a:defRPr sz="1860" b="1">
                <a:solidFill>
                  <a:srgbClr val="152D38"/>
                </a:solidFill>
                <a:latin typeface="Arial"/>
                <a:ea typeface="Arial"/>
                <a:cs typeface="Arial"/>
              </a:defRPr>
            </a:defPPr>
          </a:lstStyle>
          <a:p>
            <a:pPr>
              <a:defRPr sz="1860" b="1">
                <a:solidFill>
                  <a:srgbClr val="152D38"/>
                </a:solidFill>
                <a:latin typeface="Arial"/>
                <a:ea typeface="Arial"/>
                <a:cs typeface="Arial"/>
              </a:defRPr>
            </a:pPr>
            <a:r>
              <a:rPr sz="1860" b="1">
                <a:solidFill>
                  <a:srgbClr val="152D38"/>
                </a:solidFill>
                <a:latin typeface="Arial"/>
                <a:ea typeface="Arial"/>
                <a:cs typeface="Arial"/>
              </a:rPr>
              <a:t>C11, GCC and Make</a:t>
            </a:r>
          </a:p>
        </p:txBody>
      </p:sp>
      <p:sp>
        <p:nvSpPr>
          <p:cNvPr id="6" name="Rectangle 5">
            <a:extLst>
              <a:ext uri="{FF2B5EF4-FFF2-40B4-BE49-F238E27FC236}">
                <a16:creationId xmlns:a16="http://schemas.microsoft.com/office/drawing/2014/main" id="{3BF4B746-F71E-41EA-B337-950E81109686}"/>
              </a:ext>
            </a:extLst>
          </p:cNvPr>
          <p:cNvSpPr>
            <a:spLocks noGrp="1"/>
          </p:cNvSpPr>
          <p:nvPr/>
        </p:nvSpPr>
        <p:spPr>
          <a:xfrm>
            <a:off x="609600" y="2672905"/>
            <a:ext cx="5334000" cy="1043178"/>
          </a:xfrm>
          <a:prstGeom prst="rect">
            <a:avLst/>
          </a:prstGeom>
          <a:noFill/>
          <a:ln w="0">
            <a:noFill/>
            <a:prstDash val="solid"/>
          </a:ln>
        </p:spPr>
        <p:txBody>
          <a:bodyPr lIns="0" tIns="0" rIns="0" bIns="0" anchor="t"/>
          <a:lstStyle>
            <a:defPPr>
              <a:defRPr sz="1500" b="0">
                <a:solidFill>
                  <a:srgbClr val="586A70"/>
                </a:solidFill>
                <a:latin typeface="Arial"/>
                <a:ea typeface="Arial"/>
                <a:cs typeface="Arial"/>
              </a:defRPr>
            </a:defPPr>
          </a:lstStyle>
          <a:p>
            <a:pPr>
              <a:defRPr sz="1500" b="0">
                <a:solidFill>
                  <a:srgbClr val="586A70"/>
                </a:solidFill>
                <a:latin typeface="Arial"/>
                <a:ea typeface="Arial"/>
                <a:cs typeface="Arial"/>
              </a:defRPr>
            </a:pPr>
            <a:r>
              <a:rPr sz="1500" b="0">
                <a:solidFill>
                  <a:srgbClr val="586A70"/>
                </a:solidFill>
                <a:latin typeface="Arial"/>
                <a:ea typeface="Arial"/>
                <a:cs typeface="Arial"/>
              </a:rPr>
              <a:t>playlist.c  manages nodes and links</a:t>
            </a:r>
          </a:p>
          <a:p>
            <a:pPr>
              <a:defRPr sz="1500" b="0">
                <a:solidFill>
                  <a:srgbClr val="586A70"/>
                </a:solidFill>
                <a:latin typeface="Arial"/>
                <a:ea typeface="Arial"/>
                <a:cs typeface="Arial"/>
              </a:defRPr>
            </a:pPr>
            <a:r>
              <a:rPr sz="1500" b="0">
                <a:solidFill>
                  <a:srgbClr val="586A70"/>
                </a:solidFill>
                <a:latin typeface="Arial"/>
                <a:ea typeface="Arial"/>
                <a:cs typeface="Arial"/>
              </a:rPr>
              <a:t>api.c  validates requests and returns state</a:t>
            </a:r>
          </a:p>
          <a:p>
            <a:pPr>
              <a:defRPr sz="1500" b="0">
                <a:solidFill>
                  <a:srgbClr val="586A70"/>
                </a:solidFill>
                <a:latin typeface="Arial"/>
                <a:ea typeface="Arial"/>
                <a:cs typeface="Arial"/>
              </a:defRPr>
            </a:pPr>
            <a:r>
              <a:rPr sz="1500" b="0">
                <a:solidFill>
                  <a:srgbClr val="586A70"/>
                </a:solidFill>
                <a:latin typeface="Arial"/>
                <a:ea typeface="Arial"/>
                <a:cs typeface="Arial"/>
              </a:rPr>
              <a:t>server.c  serves the local application</a:t>
            </a:r>
          </a:p>
        </p:txBody>
      </p:sp>
      <p:sp>
        <p:nvSpPr>
          <p:cNvPr id="7" name="Rectangle 6">
            <a:extLst>
              <a:ext uri="{FF2B5EF4-FFF2-40B4-BE49-F238E27FC236}">
                <a16:creationId xmlns:a16="http://schemas.microsoft.com/office/drawing/2014/main" id="{DD504415-D4CE-4B89-BF8B-B4195DCCCBDB}"/>
              </a:ext>
            </a:extLst>
          </p:cNvPr>
          <p:cNvSpPr>
            <a:spLocks noGrp="1"/>
          </p:cNvSpPr>
          <p:nvPr/>
        </p:nvSpPr>
        <p:spPr>
          <a:xfrm>
            <a:off x="6705600" y="1735455"/>
            <a:ext cx="4876800" cy="317182"/>
          </a:xfrm>
          <a:prstGeom prst="rect">
            <a:avLst/>
          </a:prstGeom>
          <a:noFill/>
          <a:ln w="0">
            <a:noFill/>
            <a:prstDash val="solid"/>
          </a:ln>
        </p:spPr>
        <p:txBody>
          <a:bodyPr lIns="0" tIns="0" rIns="0" bIns="0" anchor="t"/>
          <a:lstStyle>
            <a:defPPr>
              <a:defRPr sz="1800" b="1">
                <a:solidFill>
                  <a:srgbClr val="16786D"/>
                </a:solidFill>
                <a:latin typeface="Arial"/>
                <a:ea typeface="Arial"/>
                <a:cs typeface="Arial"/>
              </a:defRPr>
            </a:defPPr>
          </a:lstStyle>
          <a:p>
            <a:pPr>
              <a:defRPr sz="1800" b="1">
                <a:solidFill>
                  <a:srgbClr val="16786D"/>
                </a:solidFill>
                <a:latin typeface="Arial"/>
                <a:ea typeface="Arial"/>
                <a:cs typeface="Arial"/>
              </a:defRPr>
            </a:pPr>
            <a:r>
              <a:rPr sz="1800" b="1">
                <a:solidFill>
                  <a:srgbClr val="16786D"/>
                </a:solidFill>
                <a:latin typeface="Arial"/>
                <a:ea typeface="Arial"/>
                <a:cs typeface="Arial"/>
              </a:rPr>
              <a:t>Browser interface</a:t>
            </a:r>
          </a:p>
        </p:txBody>
      </p:sp>
      <p:sp>
        <p:nvSpPr>
          <p:cNvPr id="8" name="Rectangle 7">
            <a:extLst>
              <a:ext uri="{FF2B5EF4-FFF2-40B4-BE49-F238E27FC236}">
                <a16:creationId xmlns:a16="http://schemas.microsoft.com/office/drawing/2014/main" id="{1FDA333C-9A51-4344-B76A-65DFF0F38DED}"/>
              </a:ext>
            </a:extLst>
          </p:cNvPr>
          <p:cNvSpPr>
            <a:spLocks noGrp="1"/>
          </p:cNvSpPr>
          <p:nvPr/>
        </p:nvSpPr>
        <p:spPr>
          <a:xfrm>
            <a:off x="6705600" y="2151316"/>
            <a:ext cx="4876800" cy="310134"/>
          </a:xfrm>
          <a:prstGeom prst="rect">
            <a:avLst/>
          </a:prstGeom>
          <a:noFill/>
          <a:ln w="0">
            <a:noFill/>
            <a:prstDash val="solid"/>
          </a:ln>
        </p:spPr>
        <p:txBody>
          <a:bodyPr lIns="0" tIns="0" rIns="0" bIns="0" anchor="t"/>
          <a:lstStyle>
            <a:defPPr>
              <a:defRPr sz="1860" b="1">
                <a:solidFill>
                  <a:srgbClr val="152D38"/>
                </a:solidFill>
                <a:latin typeface="Arial"/>
                <a:ea typeface="Arial"/>
                <a:cs typeface="Arial"/>
              </a:defRPr>
            </a:defPPr>
          </a:lstStyle>
          <a:p>
            <a:pPr>
              <a:defRPr sz="1860" b="1">
                <a:solidFill>
                  <a:srgbClr val="152D38"/>
                </a:solidFill>
                <a:latin typeface="Arial"/>
                <a:ea typeface="Arial"/>
                <a:cs typeface="Arial"/>
              </a:defRPr>
            </a:pPr>
            <a:r>
              <a:rPr sz="1860" b="1">
                <a:solidFill>
                  <a:srgbClr val="152D38"/>
                </a:solidFill>
                <a:latin typeface="Arial"/>
                <a:ea typeface="Arial"/>
                <a:cs typeface="Arial"/>
              </a:rPr>
              <a:t>HTML, CSS and JavaScript</a:t>
            </a:r>
          </a:p>
        </p:txBody>
      </p:sp>
      <p:sp>
        <p:nvSpPr>
          <p:cNvPr id="9" name="Rectangle 8">
            <a:extLst>
              <a:ext uri="{FF2B5EF4-FFF2-40B4-BE49-F238E27FC236}">
                <a16:creationId xmlns:a16="http://schemas.microsoft.com/office/drawing/2014/main" id="{F44138B6-EAF6-49BF-811C-9F7B7AD0D5F3}"/>
              </a:ext>
            </a:extLst>
          </p:cNvPr>
          <p:cNvSpPr>
            <a:spLocks noGrp="1"/>
          </p:cNvSpPr>
          <p:nvPr/>
        </p:nvSpPr>
        <p:spPr>
          <a:xfrm>
            <a:off x="6705600" y="2672905"/>
            <a:ext cx="4876800" cy="1043178"/>
          </a:xfrm>
          <a:prstGeom prst="rect">
            <a:avLst/>
          </a:prstGeom>
          <a:noFill/>
          <a:ln w="0">
            <a:noFill/>
            <a:prstDash val="solid"/>
          </a:ln>
        </p:spPr>
        <p:txBody>
          <a:bodyPr lIns="0" tIns="0" rIns="0" bIns="0" anchor="t"/>
          <a:lstStyle>
            <a:defPPr>
              <a:defRPr sz="1500" b="0">
                <a:solidFill>
                  <a:srgbClr val="586A70"/>
                </a:solidFill>
                <a:latin typeface="Arial"/>
                <a:ea typeface="Arial"/>
                <a:cs typeface="Arial"/>
              </a:defRPr>
            </a:defPPr>
          </a:lstStyle>
          <a:p>
            <a:pPr>
              <a:defRPr sz="1500" b="0">
                <a:solidFill>
                  <a:srgbClr val="586A70"/>
                </a:solidFill>
                <a:latin typeface="Arial"/>
                <a:ea typeface="Arial"/>
                <a:cs typeface="Arial"/>
              </a:defRPr>
            </a:pPr>
            <a:r>
              <a:rPr sz="1500" b="0">
                <a:solidFill>
                  <a:srgbClr val="586A70"/>
                </a:solidFill>
                <a:latin typeface="Arial"/>
                <a:ea typeface="Arial"/>
                <a:cs typeface="Arial"/>
              </a:rPr>
              <a:t>Demo: playback and playlist editing</a:t>
            </a:r>
          </a:p>
          <a:p>
            <a:pPr>
              <a:defRPr sz="1500" b="0">
                <a:solidFill>
                  <a:srgbClr val="586A70"/>
                </a:solidFill>
                <a:latin typeface="Arial"/>
                <a:ea typeface="Arial"/>
                <a:cs typeface="Arial"/>
              </a:defRPr>
            </a:pPr>
            <a:r>
              <a:rPr sz="1500" b="0">
                <a:solidFill>
                  <a:srgbClr val="586A70"/>
                </a:solidFill>
                <a:latin typeface="Arial"/>
                <a:ea typeface="Arial"/>
                <a:cs typeface="Arial"/>
              </a:rPr>
              <a:t>Simulation: recorded C event replay</a:t>
            </a:r>
          </a:p>
          <a:p>
            <a:pPr>
              <a:defRPr sz="1500" b="0">
                <a:solidFill>
                  <a:srgbClr val="586A70"/>
                </a:solidFill>
                <a:latin typeface="Arial"/>
                <a:ea typeface="Arial"/>
                <a:cs typeface="Arial"/>
              </a:defRPr>
            </a:pPr>
            <a:r>
              <a:rPr sz="1500" b="0">
                <a:solidFill>
                  <a:srgbClr val="586A70"/>
                </a:solidFill>
                <a:latin typeface="Arial"/>
                <a:ea typeface="Arial"/>
                <a:cs typeface="Arial"/>
              </a:rPr>
              <a:t>Audio remains in the browser</a:t>
            </a:r>
          </a:p>
        </p:txBody>
      </p:sp>
      <p:sp>
        <p:nvSpPr>
          <p:cNvPr id="10" name="Rectangle 9">
            <a:extLst>
              <a:ext uri="{FF2B5EF4-FFF2-40B4-BE49-F238E27FC236}">
                <a16:creationId xmlns:a16="http://schemas.microsoft.com/office/drawing/2014/main" id="{4F39B667-601E-4064-BD4C-68D97278DAF4}"/>
              </a:ext>
            </a:extLst>
          </p:cNvPr>
          <p:cNvSpPr>
            <a:spLocks noGrp="1"/>
          </p:cNvSpPr>
          <p:nvPr/>
        </p:nvSpPr>
        <p:spPr>
          <a:xfrm>
            <a:off x="609600" y="3709035"/>
            <a:ext cx="10972800" cy="253746"/>
          </a:xfrm>
          <a:prstGeom prst="rect">
            <a:avLst/>
          </a:prstGeom>
          <a:noFill/>
          <a:ln w="0">
            <a:noFill/>
            <a:prstDash val="solid"/>
          </a:ln>
        </p:spPr>
        <p:txBody>
          <a:bodyPr lIns="0" tIns="0" rIns="0" bIns="0" anchor="t"/>
          <a:lstStyle>
            <a:defPPr>
              <a:defRPr sz="1380" b="0">
                <a:solidFill>
                  <a:srgbClr val="586A70"/>
                </a:solidFill>
                <a:latin typeface="Arial"/>
                <a:ea typeface="Arial"/>
                <a:cs typeface="Arial"/>
              </a:defRPr>
            </a:defPPr>
          </a:lstStyle>
          <a:p>
            <a:pPr>
              <a:defRPr sz="1380" b="0">
                <a:solidFill>
                  <a:srgbClr val="586A70"/>
                </a:solidFill>
                <a:latin typeface="Arial"/>
                <a:ea typeface="Arial"/>
                <a:cs typeface="Arial"/>
              </a:defRPr>
            </a:pPr>
            <a:r>
              <a:rPr sz="1380" b="0">
                <a:solidFill>
                  <a:srgbClr val="586A70"/>
                </a:solidFill>
                <a:latin typeface="Arial"/>
                <a:ea typeface="Arial"/>
                <a:cs typeface="Arial"/>
              </a:rPr>
              <a:t>Limits: 200 songs total; 127 bytes per title or artist.</a:t>
            </a:r>
          </a:p>
        </p:txBody>
      </p:sp>
      <p:sp>
        <p:nvSpPr>
          <p:cNvPr id="11" name="Rectangle 10">
            <a:extLst>
              <a:ext uri="{FF2B5EF4-FFF2-40B4-BE49-F238E27FC236}">
                <a16:creationId xmlns:a16="http://schemas.microsoft.com/office/drawing/2014/main" id="{FEF49575-FB7B-4979-BA3C-B285112DD2EF}"/>
              </a:ext>
            </a:extLst>
          </p:cNvPr>
          <p:cNvSpPr>
            <a:spLocks noGrp="1"/>
          </p:cNvSpPr>
          <p:nvPr/>
        </p:nvSpPr>
        <p:spPr>
          <a:xfrm>
            <a:off x="609600" y="4117848"/>
            <a:ext cx="10972800" cy="754189"/>
          </a:xfrm>
          <a:prstGeom prst="rect">
            <a:avLst/>
          </a:prstGeom>
          <a:solidFill>
            <a:srgbClr val="152D38"/>
          </a:solidFill>
          <a:ln w="0">
            <a:noFill/>
            <a:prstDash val="solid"/>
          </a:ln>
        </p:spPr>
      </p:sp>
      <p:sp>
        <p:nvSpPr>
          <p:cNvPr id="12" name="Rectangle 11">
            <a:extLst>
              <a:ext uri="{FF2B5EF4-FFF2-40B4-BE49-F238E27FC236}">
                <a16:creationId xmlns:a16="http://schemas.microsoft.com/office/drawing/2014/main" id="{0B1FA1FE-2768-4B8C-B092-E4C7DEACAD65}"/>
              </a:ext>
            </a:extLst>
          </p:cNvPr>
          <p:cNvSpPr>
            <a:spLocks noGrp="1"/>
          </p:cNvSpPr>
          <p:nvPr/>
        </p:nvSpPr>
        <p:spPr>
          <a:xfrm>
            <a:off x="838200" y="4265866"/>
            <a:ext cx="1905000" cy="197358"/>
          </a:xfrm>
          <a:prstGeom prst="rect">
            <a:avLst/>
          </a:prstGeom>
          <a:noFill/>
          <a:ln w="0">
            <a:noFill/>
            <a:prstDash val="solid"/>
          </a:ln>
        </p:spPr>
        <p:txBody>
          <a:bodyPr lIns="0" tIns="0" rIns="0" bIns="0" anchor="t"/>
          <a:lstStyle>
            <a:defPPr>
              <a:defRPr sz="1020" b="1">
                <a:solidFill>
                  <a:srgbClr val="90C5B8"/>
                </a:solidFill>
                <a:latin typeface="Arial"/>
                <a:ea typeface="Arial"/>
                <a:cs typeface="Arial"/>
              </a:defRPr>
            </a:defPPr>
          </a:lstStyle>
          <a:p>
            <a:pPr>
              <a:defRPr sz="1020" b="1">
                <a:solidFill>
                  <a:srgbClr val="90C5B8"/>
                </a:solidFill>
                <a:latin typeface="Arial"/>
                <a:ea typeface="Arial"/>
                <a:cs typeface="Arial"/>
              </a:defRPr>
            </a:pPr>
            <a:r>
              <a:rPr sz="1020" b="1">
                <a:solidFill>
                  <a:srgbClr val="90C5B8"/>
                </a:solidFill>
                <a:latin typeface="Arial"/>
                <a:ea typeface="Arial"/>
                <a:cs typeface="Arial"/>
              </a:rPr>
              <a:t>RUN LOCALLY</a:t>
            </a:r>
          </a:p>
        </p:txBody>
      </p:sp>
      <p:sp>
        <p:nvSpPr>
          <p:cNvPr id="13" name="Rectangle 12">
            <a:extLst>
              <a:ext uri="{FF2B5EF4-FFF2-40B4-BE49-F238E27FC236}">
                <a16:creationId xmlns:a16="http://schemas.microsoft.com/office/drawing/2014/main" id="{B1C3E7EE-BE04-4F7C-BDA5-8BECFF84975F}"/>
              </a:ext>
            </a:extLst>
          </p:cNvPr>
          <p:cNvSpPr>
            <a:spLocks noGrp="1"/>
          </p:cNvSpPr>
          <p:nvPr/>
        </p:nvSpPr>
        <p:spPr>
          <a:xfrm>
            <a:off x="2857500" y="4258818"/>
            <a:ext cx="8524875" cy="267843"/>
          </a:xfrm>
          <a:prstGeom prst="rect">
            <a:avLst/>
          </a:prstGeom>
          <a:noFill/>
          <a:ln w="0">
            <a:noFill/>
            <a:prstDash val="solid"/>
          </a:ln>
        </p:spPr>
        <p:txBody>
          <a:bodyPr lIns="0" tIns="0" rIns="0" bIns="0" anchor="t"/>
          <a:lstStyle>
            <a:defPPr>
              <a:defRPr sz="1560" b="1">
                <a:solidFill>
                  <a:srgbClr val="FFFFFF"/>
                </a:solidFill>
                <a:latin typeface="Arial"/>
                <a:ea typeface="Arial"/>
                <a:cs typeface="Arial"/>
              </a:defRPr>
            </a:defPPr>
          </a:lstStyle>
          <a:p>
            <a:pPr>
              <a:defRPr sz="1560" b="1">
                <a:solidFill>
                  <a:srgbClr val="FFFFFF"/>
                </a:solidFill>
                <a:latin typeface="Arial"/>
                <a:ea typeface="Arial"/>
                <a:cs typeface="Arial"/>
              </a:defRPr>
            </a:pPr>
            <a:r>
              <a:rPr sz="1560" b="1">
                <a:solidFill>
                  <a:srgbClr val="FFFFFF"/>
                </a:solidFill>
                <a:latin typeface="Arial"/>
                <a:ea typeface="Arial"/>
                <a:cs typeface="Arial"/>
              </a:rPr>
              <a:t>make   then   ./build/musiclab --port 8081</a:t>
            </a:r>
          </a:p>
        </p:txBody>
      </p:sp>
      <p:sp>
        <p:nvSpPr>
          <p:cNvPr id="14" name="Rectangle 13">
            <a:extLst>
              <a:ext uri="{FF2B5EF4-FFF2-40B4-BE49-F238E27FC236}">
                <a16:creationId xmlns:a16="http://schemas.microsoft.com/office/drawing/2014/main" id="{FF93BD21-B9CA-43E0-A59C-50BA9F555F55}"/>
              </a:ext>
            </a:extLst>
          </p:cNvPr>
          <p:cNvSpPr>
            <a:spLocks noGrp="1"/>
          </p:cNvSpPr>
          <p:nvPr/>
        </p:nvSpPr>
        <p:spPr>
          <a:xfrm>
            <a:off x="2857500" y="4547806"/>
            <a:ext cx="8096250" cy="225552"/>
          </a:xfrm>
          <a:prstGeom prst="rect">
            <a:avLst/>
          </a:prstGeom>
          <a:noFill/>
          <a:ln w="0">
            <a:noFill/>
            <a:prstDash val="solid"/>
          </a:ln>
        </p:spPr>
        <p:txBody>
          <a:bodyPr lIns="0" tIns="0" rIns="0" bIns="0" anchor="t"/>
          <a:lstStyle>
            <a:defPPr>
              <a:defRPr sz="1260" b="0">
                <a:solidFill>
                  <a:srgbClr val="BDD1D7"/>
                </a:solidFill>
                <a:latin typeface="Arial"/>
                <a:ea typeface="Arial"/>
                <a:cs typeface="Arial"/>
              </a:defRPr>
            </a:defPPr>
          </a:lstStyle>
          <a:p>
            <a:pPr>
              <a:defRPr sz="1260" b="0">
                <a:solidFill>
                  <a:srgbClr val="BDD1D7"/>
                </a:solidFill>
                <a:latin typeface="Arial"/>
                <a:ea typeface="Arial"/>
                <a:cs typeface="Arial"/>
              </a:defRPr>
            </a:pPr>
            <a:r>
              <a:rPr sz="1260" b="0">
                <a:solidFill>
                  <a:srgbClr val="BDD1D7"/>
                </a:solidFill>
                <a:latin typeface="Arial"/>
                <a:ea typeface="Arial"/>
                <a:cs typeface="Arial"/>
              </a:rPr>
              <a:t>Open http://localhost:8081</a:t>
            </a:r>
          </a:p>
        </p:txBody>
      </p:sp>
      <p:sp>
        <p:nvSpPr>
          <p:cNvPr id="16" name="Presentation explanation">
            <a:extLst>
              <a:ext uri="{FF2B5EF4-FFF2-40B4-BE49-F238E27FC236}">
                <a16:creationId xmlns:a16="http://schemas.microsoft.com/office/drawing/2014/main" id="{3BEB040C-B683-44EE-934A-173473415339}"/>
              </a:ext>
            </a:extLst>
          </p:cNvPr>
          <p:cNvSpPr>
            <a:spLocks noGrp="1"/>
          </p:cNvSpPr>
          <p:nvPr/>
        </p:nvSpPr>
        <p:spPr>
          <a:xfrm>
            <a:off x="609600" y="5534025"/>
            <a:ext cx="10972800" cy="1000125"/>
          </a:xfrm>
          <a:prstGeom prst="rect">
            <a:avLst/>
          </a:prstGeom>
          <a:noFill/>
          <a:ln w="0">
            <a:noFill/>
          </a:ln>
        </p:spPr>
        <p:txBody>
          <a:bodyPr lIns="0" tIns="0" rIns="0" bIns="0" anchor="t"/>
          <a:lstStyle>
            <a:defPPr>
              <a:defRPr sz="1800">
                <a:solidFill>
                  <a:srgbClr val="152D38"/>
                </a:solidFill>
                <a:latin typeface="Arial"/>
                <a:ea typeface="Arial"/>
                <a:cs typeface="Arial"/>
              </a:defRPr>
            </a:defPPr>
          </a:lstStyle>
          <a:p>
            <a:pPr>
              <a:defRPr sz="1800">
                <a:solidFill>
                  <a:srgbClr val="152D38"/>
                </a:solidFill>
                <a:latin typeface="Arial"/>
                <a:ea typeface="Arial"/>
                <a:cs typeface="Arial"/>
              </a:defRPr>
            </a:pPr>
            <a:r>
              <a:rPr sz="1800">
                <a:solidFill>
                  <a:srgbClr val="152D38"/>
                </a:solidFill>
                <a:latin typeface="Arial"/>
                <a:ea typeface="Arial"/>
                <a:cs typeface="Arial"/>
              </a:rPr>
              <a:t>The C backend manages playlist data and validates requests, while HTML, CSS and JavaScript provide the interface. Audio stays in the browser. We build the application with Make, start the local server and open it in a browser.</a:t>
            </a:r>
          </a:p>
        </p:txBody>
      </p:sp>
    </p:spTree>
    <p:extLst>
      <p:ext uri="{BB962C8B-B14F-4D97-AF65-F5344CB8AC3E}">
        <p14:creationId xmlns:p14="http://schemas.microsoft.com/office/powerpoint/2010/main" val="7213004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0AAB35EF-F719-437F-9C68-B74A4AE6DC76}"/>
              </a:ext>
            </a:extLst>
          </p:cNvPr>
          <p:cNvSpPr>
            <a:spLocks noGrp="1"/>
          </p:cNvSpPr>
          <p:nvPr/>
        </p:nvSpPr>
        <p:spPr>
          <a:xfrm>
            <a:off x="609600" y="495300"/>
            <a:ext cx="10953750" cy="666750"/>
          </a:xfrm>
          <a:prstGeom prst="rect">
            <a:avLst/>
          </a:prstGeom>
          <a:noFill/>
          <a:ln w="0">
            <a:noFill/>
            <a:prstDash val="solid"/>
          </a:ln>
        </p:spPr>
        <p:txBody>
          <a:bodyPr lIns="0" tIns="0" rIns="0" bIns="0" anchor="t"/>
          <a:lstStyle>
            <a:defPPr>
              <a:defRPr sz="3300" b="1">
                <a:solidFill>
                  <a:srgbClr val="152D38"/>
                </a:solidFill>
                <a:latin typeface="Arial"/>
                <a:ea typeface="Arial"/>
                <a:cs typeface="Arial"/>
              </a:defRPr>
            </a:defPPr>
          </a:lstStyle>
          <a:p>
            <a:pPr>
              <a:defRPr sz="3300" b="1">
                <a:solidFill>
                  <a:srgbClr val="152D38"/>
                </a:solidFill>
                <a:latin typeface="Arial"/>
                <a:ea typeface="Arial"/>
                <a:cs typeface="Arial"/>
              </a:defRPr>
            </a:pPr>
            <a:r>
              <a:rPr sz="3300" b="1">
                <a:solidFill>
                  <a:srgbClr val="152D38"/>
                </a:solidFill>
                <a:latin typeface="Arial"/>
                <a:ea typeface="Arial"/>
                <a:cs typeface="Arial"/>
              </a:rPr>
              <a:t>Demo view</a:t>
            </a:r>
          </a:p>
        </p:txBody>
      </p:sp>
      <p:sp>
        <p:nvSpPr>
          <p:cNvPr id="2" name="Rectangle 1">
            <a:extLst>
              <a:ext uri="{FF2B5EF4-FFF2-40B4-BE49-F238E27FC236}">
                <a16:creationId xmlns:a16="http://schemas.microsoft.com/office/drawing/2014/main" id="{5CF78094-CD6B-4F62-8C26-FDBA7416E610}"/>
              </a:ext>
            </a:extLst>
          </p:cNvPr>
          <p:cNvSpPr>
            <a:spLocks noGrp="1"/>
          </p:cNvSpPr>
          <p:nvPr/>
        </p:nvSpPr>
        <p:spPr>
          <a:xfrm>
            <a:off x="609600" y="1314450"/>
            <a:ext cx="609600" cy="38100"/>
          </a:xfrm>
          <a:prstGeom prst="rect">
            <a:avLst/>
          </a:prstGeom>
          <a:solidFill>
            <a:srgbClr val="16786D"/>
          </a:solidFill>
          <a:ln w="0">
            <a:noFill/>
            <a:prstDash val="solid"/>
          </a:ln>
        </p:spPr>
      </p:sp>
      <p:sp>
        <p:nvSpPr>
          <p:cNvPr id="3" name="Rectangle 2">
            <a:extLst>
              <a:ext uri="{FF2B5EF4-FFF2-40B4-BE49-F238E27FC236}">
                <a16:creationId xmlns:a16="http://schemas.microsoft.com/office/drawing/2014/main" id="{F642079B-E161-4F2E-8DC6-674BE742D1CC}"/>
              </a:ext>
            </a:extLst>
          </p:cNvPr>
          <p:cNvSpPr>
            <a:spLocks noGrp="1"/>
          </p:cNvSpPr>
          <p:nvPr/>
        </p:nvSpPr>
        <p:spPr>
          <a:xfrm>
            <a:off x="11125200" y="6629400"/>
            <a:ext cx="476250" cy="228600"/>
          </a:xfrm>
          <a:prstGeom prst="rect">
            <a:avLst/>
          </a:prstGeom>
          <a:noFill/>
          <a:ln w="0">
            <a:noFill/>
            <a:prstDash val="solid"/>
          </a:ln>
        </p:spPr>
        <p:txBody>
          <a:bodyPr lIns="0" tIns="0" rIns="0" bIns="0" anchor="t"/>
          <a:lstStyle>
            <a:defPPr>
              <a:defRPr sz="1200" b="0">
                <a:solidFill>
                  <a:srgbClr val="586A70"/>
                </a:solidFill>
                <a:latin typeface="Arial"/>
                <a:ea typeface="Arial"/>
                <a:cs typeface="Arial"/>
              </a:defRPr>
            </a:defPPr>
          </a:lstStyle>
          <a:p>
            <a:pPr>
              <a:defRPr sz="1200" b="0">
                <a:solidFill>
                  <a:srgbClr val="586A70"/>
                </a:solidFill>
                <a:latin typeface="Arial"/>
                <a:ea typeface="Arial"/>
                <a:cs typeface="Arial"/>
              </a:defRPr>
            </a:pPr>
            <a:r>
              <a:rPr sz="1200" b="0">
                <a:solidFill>
                  <a:srgbClr val="586A70"/>
                </a:solidFill>
                <a:latin typeface="Arial"/>
                <a:ea typeface="Arial"/>
                <a:cs typeface="Arial"/>
              </a:rPr>
              <a:t>08</a:t>
            </a:r>
          </a:p>
        </p:txBody>
      </p:sp>
      <p:sp>
        <p:nvSpPr>
          <p:cNvPr id="4" name="Rectangle 3">
            <a:extLst>
              <a:ext uri="{FF2B5EF4-FFF2-40B4-BE49-F238E27FC236}">
                <a16:creationId xmlns:a16="http://schemas.microsoft.com/office/drawing/2014/main" id="{44B000AC-5A9F-4A58-B89A-CDA7D8503E53}"/>
              </a:ext>
            </a:extLst>
          </p:cNvPr>
          <p:cNvSpPr>
            <a:spLocks noGrp="1"/>
          </p:cNvSpPr>
          <p:nvPr/>
        </p:nvSpPr>
        <p:spPr>
          <a:xfrm>
            <a:off x="609600" y="1601533"/>
            <a:ext cx="10972800" cy="317182"/>
          </a:xfrm>
          <a:prstGeom prst="rect">
            <a:avLst/>
          </a:prstGeom>
          <a:noFill/>
          <a:ln w="0">
            <a:noFill/>
            <a:prstDash val="solid"/>
          </a:ln>
        </p:spPr>
        <p:txBody>
          <a:bodyPr lIns="0" tIns="0" rIns="0" bIns="0" anchor="t"/>
          <a:lstStyle>
            <a:defPPr>
              <a:defRPr sz="1800" b="0">
                <a:solidFill>
                  <a:srgbClr val="586A70"/>
                </a:solidFill>
                <a:latin typeface="Arial"/>
                <a:ea typeface="Arial"/>
                <a:cs typeface="Arial"/>
              </a:defRPr>
            </a:defPPr>
          </a:lstStyle>
          <a:p>
            <a:pPr>
              <a:defRPr sz="1800" b="0">
                <a:solidFill>
                  <a:srgbClr val="586A70"/>
                </a:solidFill>
                <a:latin typeface="Arial"/>
                <a:ea typeface="Arial"/>
                <a:cs typeface="Arial"/>
              </a:defRPr>
            </a:pPr>
            <a:r>
              <a:rPr sz="1800" b="0">
                <a:solidFill>
                  <a:srgbClr val="586A70"/>
                </a:solidFill>
                <a:latin typeface="Arial"/>
                <a:ea typeface="Arial"/>
                <a:cs typeface="Arial"/>
              </a:rPr>
              <a:t>Playback and playlist editing in one view</a:t>
            </a:r>
          </a:p>
        </p:txBody>
      </p:sp>
      <p:sp>
        <p:nvSpPr>
          <p:cNvPr id="5" name="Rectangle 4">
            <a:extLst>
              <a:ext uri="{FF2B5EF4-FFF2-40B4-BE49-F238E27FC236}">
                <a16:creationId xmlns:a16="http://schemas.microsoft.com/office/drawing/2014/main" id="{51C285E2-D3AF-4572-BB96-6BC7E8E8B7AC}"/>
              </a:ext>
            </a:extLst>
          </p:cNvPr>
          <p:cNvSpPr>
            <a:spLocks noGrp="1"/>
          </p:cNvSpPr>
          <p:nvPr/>
        </p:nvSpPr>
        <p:spPr>
          <a:xfrm>
            <a:off x="609600" y="2101977"/>
            <a:ext cx="10972800" cy="2290762"/>
          </a:xfrm>
          <a:prstGeom prst="rect">
            <a:avLst/>
          </a:prstGeom>
          <a:solidFill>
            <a:srgbClr val="FFFFFF"/>
          </a:solidFill>
          <a:ln w="0">
            <a:noFill/>
            <a:prstDash val="solid"/>
          </a:ln>
        </p:spPr>
      </p:sp>
      <p:pic>
        <p:nvPicPr>
          <p:cNvPr id="6" name="Picture 5">
            <a:extLst>
              <a:ext uri="{FF2B5EF4-FFF2-40B4-BE49-F238E27FC236}">
                <a16:creationId xmlns:a16="http://schemas.microsoft.com/office/drawing/2014/main" id="{BA3F2E55-628D-448B-BA1C-CB318FC9EE49}"/>
              </a:ext>
            </a:extLst>
          </p:cNvPr>
          <p:cNvPicPr>
            <a:picLocks noChangeAspect="1"/>
          </p:cNvPicPr>
          <p:nvPr/>
        </p:nvPicPr>
        <p:blipFill>
          <a:blip r:embed="rId3"/>
          <a:stretch/>
        </p:blipFill>
        <p:spPr>
          <a:xfrm>
            <a:off x="1569243" y="2105181"/>
            <a:ext cx="5462587" cy="2284354"/>
          </a:xfrm>
          <a:prstGeom prst="rect">
            <a:avLst/>
          </a:prstGeom>
        </p:spPr>
      </p:pic>
      <p:sp>
        <p:nvSpPr>
          <p:cNvPr id="7" name="Rectangle 6">
            <a:extLst>
              <a:ext uri="{FF2B5EF4-FFF2-40B4-BE49-F238E27FC236}">
                <a16:creationId xmlns:a16="http://schemas.microsoft.com/office/drawing/2014/main" id="{E3A9DB86-5517-4C48-BF10-5B43B12F3E7A}"/>
              </a:ext>
            </a:extLst>
          </p:cNvPr>
          <p:cNvSpPr>
            <a:spLocks noGrp="1"/>
          </p:cNvSpPr>
          <p:nvPr/>
        </p:nvSpPr>
        <p:spPr>
          <a:xfrm>
            <a:off x="8334375" y="2101977"/>
            <a:ext cx="9525" cy="2290762"/>
          </a:xfrm>
          <a:prstGeom prst="rect">
            <a:avLst/>
          </a:prstGeom>
          <a:solidFill>
            <a:srgbClr val="D9DFDD"/>
          </a:solidFill>
          <a:ln w="0">
            <a:noFill/>
            <a:prstDash val="solid"/>
          </a:ln>
        </p:spPr>
      </p:sp>
      <p:sp>
        <p:nvSpPr>
          <p:cNvPr id="8" name="Rectangle 7">
            <a:extLst>
              <a:ext uri="{FF2B5EF4-FFF2-40B4-BE49-F238E27FC236}">
                <a16:creationId xmlns:a16="http://schemas.microsoft.com/office/drawing/2014/main" id="{17821465-A257-4278-AE27-9E0B0DB1355D}"/>
              </a:ext>
            </a:extLst>
          </p:cNvPr>
          <p:cNvSpPr>
            <a:spLocks noGrp="1"/>
          </p:cNvSpPr>
          <p:nvPr/>
        </p:nvSpPr>
        <p:spPr>
          <a:xfrm>
            <a:off x="8591550" y="2193607"/>
            <a:ext cx="2990850" cy="274891"/>
          </a:xfrm>
          <a:prstGeom prst="rect">
            <a:avLst/>
          </a:prstGeom>
          <a:noFill/>
          <a:ln w="0">
            <a:noFill/>
            <a:prstDash val="solid"/>
          </a:ln>
        </p:spPr>
        <p:txBody>
          <a:bodyPr lIns="0" tIns="0" rIns="0" bIns="0" anchor="t"/>
          <a:lstStyle>
            <a:defPPr>
              <a:defRPr sz="1560" b="1">
                <a:solidFill>
                  <a:srgbClr val="16786D"/>
                </a:solidFill>
                <a:latin typeface="Arial"/>
                <a:ea typeface="Arial"/>
                <a:cs typeface="Arial"/>
              </a:defRPr>
            </a:defPPr>
          </a:lstStyle>
          <a:p>
            <a:pPr>
              <a:defRPr sz="1560" b="1">
                <a:solidFill>
                  <a:srgbClr val="16786D"/>
                </a:solidFill>
                <a:latin typeface="Arial"/>
                <a:ea typeface="Arial"/>
                <a:cs typeface="Arial"/>
              </a:defRPr>
            </a:pPr>
            <a:r>
              <a:rPr sz="1560" b="1">
                <a:solidFill>
                  <a:srgbClr val="16786D"/>
                </a:solidFill>
                <a:latin typeface="Arial"/>
                <a:ea typeface="Arial"/>
                <a:cs typeface="Arial"/>
              </a:rPr>
              <a:t>Player controls</a:t>
            </a:r>
          </a:p>
        </p:txBody>
      </p:sp>
      <p:sp>
        <p:nvSpPr>
          <p:cNvPr id="9" name="Rectangle 8">
            <a:extLst>
              <a:ext uri="{FF2B5EF4-FFF2-40B4-BE49-F238E27FC236}">
                <a16:creationId xmlns:a16="http://schemas.microsoft.com/office/drawing/2014/main" id="{57894A07-313B-4365-89EA-33DBF46D8ABC}"/>
              </a:ext>
            </a:extLst>
          </p:cNvPr>
          <p:cNvSpPr>
            <a:spLocks noGrp="1"/>
          </p:cNvSpPr>
          <p:nvPr/>
        </p:nvSpPr>
        <p:spPr>
          <a:xfrm>
            <a:off x="8591550" y="2560129"/>
            <a:ext cx="2990850" cy="648462"/>
          </a:xfrm>
          <a:prstGeom prst="rect">
            <a:avLst/>
          </a:prstGeom>
          <a:noFill/>
          <a:ln w="0">
            <a:noFill/>
            <a:prstDash val="solid"/>
          </a:ln>
        </p:spPr>
        <p:txBody>
          <a:bodyPr lIns="0" tIns="0" rIns="0" bIns="0" anchor="t"/>
          <a:lstStyle>
            <a:defPPr>
              <a:defRPr sz="1500" b="0">
                <a:solidFill>
                  <a:srgbClr val="152D38"/>
                </a:solidFill>
                <a:latin typeface="Arial"/>
                <a:ea typeface="Arial"/>
                <a:cs typeface="Arial"/>
              </a:defRPr>
            </a:defPPr>
          </a:lstStyle>
          <a:p>
            <a:pPr>
              <a:defRPr sz="1500" b="0">
                <a:solidFill>
                  <a:srgbClr val="152D38"/>
                </a:solidFill>
                <a:latin typeface="Arial"/>
                <a:ea typeface="Arial"/>
                <a:cs typeface="Arial"/>
              </a:defRPr>
            </a:pPr>
            <a:r>
              <a:rPr sz="1500" b="0">
                <a:solidFill>
                  <a:srgbClr val="152D38"/>
                </a:solidFill>
                <a:latin typeface="Arial"/>
                <a:ea typeface="Arial"/>
                <a:cs typeface="Arial"/>
              </a:rPr>
              <a:t>Previous, Play and Next</a:t>
            </a:r>
          </a:p>
          <a:p>
            <a:pPr>
              <a:defRPr sz="1500" b="0">
                <a:solidFill>
                  <a:srgbClr val="152D38"/>
                </a:solidFill>
                <a:latin typeface="Arial"/>
                <a:ea typeface="Arial"/>
                <a:cs typeface="Arial"/>
              </a:defRPr>
            </a:pPr>
            <a:r>
              <a:rPr sz="1500" b="0">
                <a:solidFill>
                  <a:srgbClr val="152D38"/>
                </a:solidFill>
                <a:latin typeface="Arial"/>
                <a:ea typeface="Arial"/>
                <a:cs typeface="Arial"/>
              </a:rPr>
              <a:t>with volume control.</a:t>
            </a:r>
          </a:p>
        </p:txBody>
      </p:sp>
      <p:sp>
        <p:nvSpPr>
          <p:cNvPr id="10" name="Rectangle 9">
            <a:extLst>
              <a:ext uri="{FF2B5EF4-FFF2-40B4-BE49-F238E27FC236}">
                <a16:creationId xmlns:a16="http://schemas.microsoft.com/office/drawing/2014/main" id="{302A407A-F91D-45D2-9273-F09C6850C6F4}"/>
              </a:ext>
            </a:extLst>
          </p:cNvPr>
          <p:cNvSpPr>
            <a:spLocks noGrp="1"/>
          </p:cNvSpPr>
          <p:nvPr/>
        </p:nvSpPr>
        <p:spPr>
          <a:xfrm>
            <a:off x="8591550" y="3384804"/>
            <a:ext cx="2990850" cy="274891"/>
          </a:xfrm>
          <a:prstGeom prst="rect">
            <a:avLst/>
          </a:prstGeom>
          <a:noFill/>
          <a:ln w="0">
            <a:noFill/>
            <a:prstDash val="solid"/>
          </a:ln>
        </p:spPr>
        <p:txBody>
          <a:bodyPr lIns="0" tIns="0" rIns="0" bIns="0" anchor="t"/>
          <a:lstStyle>
            <a:defPPr>
              <a:defRPr sz="1560" b="1">
                <a:solidFill>
                  <a:srgbClr val="16786D"/>
                </a:solidFill>
                <a:latin typeface="Arial"/>
                <a:ea typeface="Arial"/>
                <a:cs typeface="Arial"/>
              </a:defRPr>
            </a:defPPr>
          </a:lstStyle>
          <a:p>
            <a:pPr>
              <a:defRPr sz="1560" b="1">
                <a:solidFill>
                  <a:srgbClr val="16786D"/>
                </a:solidFill>
                <a:latin typeface="Arial"/>
                <a:ea typeface="Arial"/>
                <a:cs typeface="Arial"/>
              </a:defRPr>
            </a:pPr>
            <a:r>
              <a:rPr sz="1560" b="1">
                <a:solidFill>
                  <a:srgbClr val="16786D"/>
                </a:solidFill>
                <a:latin typeface="Arial"/>
                <a:ea typeface="Arial"/>
                <a:cs typeface="Arial"/>
              </a:rPr>
              <a:t>Add a record</a:t>
            </a:r>
          </a:p>
        </p:txBody>
      </p:sp>
      <p:sp>
        <p:nvSpPr>
          <p:cNvPr id="11" name="Rectangle 10">
            <a:extLst>
              <a:ext uri="{FF2B5EF4-FFF2-40B4-BE49-F238E27FC236}">
                <a16:creationId xmlns:a16="http://schemas.microsoft.com/office/drawing/2014/main" id="{512DAEDB-CABA-42DF-A18B-8E913E887EA6}"/>
              </a:ext>
            </a:extLst>
          </p:cNvPr>
          <p:cNvSpPr>
            <a:spLocks noGrp="1"/>
          </p:cNvSpPr>
          <p:nvPr/>
        </p:nvSpPr>
        <p:spPr>
          <a:xfrm>
            <a:off x="8591550" y="3751326"/>
            <a:ext cx="2990850" cy="648462"/>
          </a:xfrm>
          <a:prstGeom prst="rect">
            <a:avLst/>
          </a:prstGeom>
          <a:noFill/>
          <a:ln w="0">
            <a:noFill/>
            <a:prstDash val="solid"/>
          </a:ln>
        </p:spPr>
        <p:txBody>
          <a:bodyPr lIns="0" tIns="0" rIns="0" bIns="0" anchor="t"/>
          <a:lstStyle>
            <a:defPPr>
              <a:defRPr sz="1500" b="0">
                <a:solidFill>
                  <a:srgbClr val="152D38"/>
                </a:solidFill>
                <a:latin typeface="Arial"/>
                <a:ea typeface="Arial"/>
                <a:cs typeface="Arial"/>
              </a:defRPr>
            </a:defPPr>
          </a:lstStyle>
          <a:p>
            <a:pPr>
              <a:defRPr sz="1500" b="0">
                <a:solidFill>
                  <a:srgbClr val="152D38"/>
                </a:solidFill>
                <a:latin typeface="Arial"/>
                <a:ea typeface="Arial"/>
                <a:cs typeface="Arial"/>
              </a:defRPr>
            </a:pPr>
            <a:r>
              <a:rPr sz="1500" b="0">
                <a:solidFill>
                  <a:srgbClr val="152D38"/>
                </a:solidFill>
                <a:latin typeface="Arial"/>
                <a:ea typeface="Arial"/>
                <a:cs typeface="Arial"/>
              </a:rPr>
              <a:t>Title, artist and playlist;</a:t>
            </a:r>
          </a:p>
          <a:p>
            <a:pPr>
              <a:defRPr sz="1500" b="0">
                <a:solidFill>
                  <a:srgbClr val="152D38"/>
                </a:solidFill>
                <a:latin typeface="Arial"/>
                <a:ea typeface="Arial"/>
                <a:cs typeface="Arial"/>
              </a:defRPr>
            </a:pPr>
            <a:r>
              <a:rPr sz="1500" b="0">
                <a:solidFill>
                  <a:srgbClr val="152D38"/>
                </a:solidFill>
                <a:latin typeface="Arial"/>
                <a:ea typeface="Arial"/>
                <a:cs typeface="Arial"/>
              </a:rPr>
              <a:t>optional local audio.</a:t>
            </a:r>
          </a:p>
        </p:txBody>
      </p:sp>
      <p:sp>
        <p:nvSpPr>
          <p:cNvPr id="12" name="Rectangle 11">
            <a:extLst>
              <a:ext uri="{FF2B5EF4-FFF2-40B4-BE49-F238E27FC236}">
                <a16:creationId xmlns:a16="http://schemas.microsoft.com/office/drawing/2014/main" id="{2BBD63B8-425D-4945-B827-CDB84A5499C6}"/>
              </a:ext>
            </a:extLst>
          </p:cNvPr>
          <p:cNvSpPr>
            <a:spLocks noGrp="1"/>
          </p:cNvSpPr>
          <p:nvPr/>
        </p:nvSpPr>
        <p:spPr>
          <a:xfrm>
            <a:off x="609600" y="4639437"/>
            <a:ext cx="10972800" cy="401764"/>
          </a:xfrm>
          <a:prstGeom prst="rect">
            <a:avLst/>
          </a:prstGeom>
          <a:noFill/>
          <a:ln w="0">
            <a:noFill/>
            <a:prstDash val="solid"/>
          </a:ln>
        </p:spPr>
        <p:txBody>
          <a:bodyPr lIns="0" tIns="0" rIns="0" bIns="0" anchor="t"/>
          <a:lstStyle>
            <a:defPPr>
              <a:defRPr sz="1440" b="0">
                <a:solidFill>
                  <a:srgbClr val="586A70"/>
                </a:solidFill>
                <a:latin typeface="Arial"/>
                <a:ea typeface="Arial"/>
                <a:cs typeface="Arial"/>
              </a:defRPr>
            </a:defPPr>
          </a:lstStyle>
          <a:p>
            <a:pPr>
              <a:defRPr sz="1440" b="0">
                <a:solidFill>
                  <a:srgbClr val="586A70"/>
                </a:solidFill>
                <a:latin typeface="Arial"/>
                <a:ea typeface="Arial"/>
                <a:cs typeface="Arial"/>
              </a:defRPr>
            </a:pPr>
            <a:r>
              <a:rPr sz="1440" b="0">
                <a:solidFill>
                  <a:srgbClr val="586A70"/>
                </a:solidFill>
                <a:latin typeface="Arial"/>
                <a:ea typeface="Arial"/>
                <a:cs typeface="Arial"/>
              </a:rPr>
              <a:t>Sample melodies or local files play in the browser. C stores metadata and links.</a:t>
            </a:r>
          </a:p>
        </p:txBody>
      </p:sp>
      <p:sp>
        <p:nvSpPr>
          <p:cNvPr id="14" name="Presentation explanation">
            <a:extLst>
              <a:ext uri="{FF2B5EF4-FFF2-40B4-BE49-F238E27FC236}">
                <a16:creationId xmlns:a16="http://schemas.microsoft.com/office/drawing/2014/main" id="{A0EEF44C-7DBE-45FD-A42E-E02490A2AAF0}"/>
              </a:ext>
            </a:extLst>
          </p:cNvPr>
          <p:cNvSpPr>
            <a:spLocks noGrp="1"/>
          </p:cNvSpPr>
          <p:nvPr/>
        </p:nvSpPr>
        <p:spPr>
          <a:xfrm>
            <a:off x="609600" y="5534025"/>
            <a:ext cx="10972800" cy="1000125"/>
          </a:xfrm>
          <a:prstGeom prst="rect">
            <a:avLst/>
          </a:prstGeom>
          <a:noFill/>
          <a:ln w="0">
            <a:noFill/>
          </a:ln>
        </p:spPr>
        <p:txBody>
          <a:bodyPr lIns="0" tIns="0" rIns="0" bIns="0" anchor="t"/>
          <a:lstStyle>
            <a:defPPr>
              <a:defRPr sz="1800">
                <a:solidFill>
                  <a:srgbClr val="152D38"/>
                </a:solidFill>
                <a:latin typeface="Arial"/>
                <a:ea typeface="Arial"/>
                <a:cs typeface="Arial"/>
              </a:defRPr>
            </a:defPPr>
          </a:lstStyle>
          <a:p>
            <a:pPr>
              <a:defRPr sz="1800">
                <a:solidFill>
                  <a:srgbClr val="152D38"/>
                </a:solidFill>
                <a:latin typeface="Arial"/>
                <a:ea typeface="Arial"/>
                <a:cs typeface="Arial"/>
              </a:defRPr>
            </a:pPr>
            <a:r>
              <a:rPr sz="1800">
                <a:solidFill>
                  <a:srgbClr val="152D38"/>
                </a:solidFill>
                <a:latin typeface="Arial"/>
                <a:ea typeface="Arial"/>
                <a:cs typeface="Arial"/>
              </a:rPr>
              <a:t>This view lets us add songs, choose a playlist and use the playback controls. The browser plays sample melodies or local audio files, while the C backend maintains each song’s metadata and its position in the linked list.</a:t>
            </a:r>
          </a:p>
        </p:txBody>
      </p:sp>
    </p:spTree>
    <p:extLst>
      <p:ext uri="{BB962C8B-B14F-4D97-AF65-F5344CB8AC3E}">
        <p14:creationId xmlns:p14="http://schemas.microsoft.com/office/powerpoint/2010/main" val="6493726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05436CC-78CF-49D0-A7BB-B6781A39A686}"/>
              </a:ext>
            </a:extLst>
          </p:cNvPr>
          <p:cNvSpPr>
            <a:spLocks noGrp="1"/>
          </p:cNvSpPr>
          <p:nvPr/>
        </p:nvSpPr>
        <p:spPr>
          <a:xfrm>
            <a:off x="609600" y="495300"/>
            <a:ext cx="10953750" cy="666750"/>
          </a:xfrm>
          <a:prstGeom prst="rect">
            <a:avLst/>
          </a:prstGeom>
          <a:noFill/>
          <a:ln w="0">
            <a:noFill/>
            <a:prstDash val="solid"/>
          </a:ln>
        </p:spPr>
        <p:txBody>
          <a:bodyPr lIns="0" tIns="0" rIns="0" bIns="0" anchor="t"/>
          <a:lstStyle>
            <a:defPPr>
              <a:defRPr sz="3300" b="1">
                <a:solidFill>
                  <a:srgbClr val="152D38"/>
                </a:solidFill>
                <a:latin typeface="Arial"/>
                <a:ea typeface="Arial"/>
                <a:cs typeface="Arial"/>
              </a:defRPr>
            </a:defPPr>
          </a:lstStyle>
          <a:p>
            <a:pPr>
              <a:defRPr sz="3300" b="1">
                <a:solidFill>
                  <a:srgbClr val="152D38"/>
                </a:solidFill>
                <a:latin typeface="Arial"/>
                <a:ea typeface="Arial"/>
                <a:cs typeface="Arial"/>
              </a:defRPr>
            </a:pPr>
            <a:r>
              <a:rPr sz="3300" b="1">
                <a:solidFill>
                  <a:srgbClr val="152D38"/>
                </a:solidFill>
                <a:latin typeface="Arial"/>
                <a:ea typeface="Arial"/>
                <a:cs typeface="Arial"/>
              </a:rPr>
              <a:t>Testing &amp; results</a:t>
            </a:r>
          </a:p>
        </p:txBody>
      </p:sp>
      <p:sp>
        <p:nvSpPr>
          <p:cNvPr id="2" name="Rectangle 1">
            <a:extLst>
              <a:ext uri="{FF2B5EF4-FFF2-40B4-BE49-F238E27FC236}">
                <a16:creationId xmlns:a16="http://schemas.microsoft.com/office/drawing/2014/main" id="{C0B79061-9D3E-45D3-BCBB-29855BB7C8DD}"/>
              </a:ext>
            </a:extLst>
          </p:cNvPr>
          <p:cNvSpPr>
            <a:spLocks noGrp="1"/>
          </p:cNvSpPr>
          <p:nvPr/>
        </p:nvSpPr>
        <p:spPr>
          <a:xfrm>
            <a:off x="609600" y="1314450"/>
            <a:ext cx="609600" cy="38100"/>
          </a:xfrm>
          <a:prstGeom prst="rect">
            <a:avLst/>
          </a:prstGeom>
          <a:solidFill>
            <a:srgbClr val="16786D"/>
          </a:solidFill>
          <a:ln w="0">
            <a:noFill/>
            <a:prstDash val="solid"/>
          </a:ln>
        </p:spPr>
      </p:sp>
      <p:sp>
        <p:nvSpPr>
          <p:cNvPr id="3" name="Rectangle 2">
            <a:extLst>
              <a:ext uri="{FF2B5EF4-FFF2-40B4-BE49-F238E27FC236}">
                <a16:creationId xmlns:a16="http://schemas.microsoft.com/office/drawing/2014/main" id="{FB22A3DD-6284-4E1E-8E1F-ED8403D34AB3}"/>
              </a:ext>
            </a:extLst>
          </p:cNvPr>
          <p:cNvSpPr>
            <a:spLocks noGrp="1"/>
          </p:cNvSpPr>
          <p:nvPr/>
        </p:nvSpPr>
        <p:spPr>
          <a:xfrm>
            <a:off x="11125200" y="6629400"/>
            <a:ext cx="476250" cy="228600"/>
          </a:xfrm>
          <a:prstGeom prst="rect">
            <a:avLst/>
          </a:prstGeom>
          <a:noFill/>
          <a:ln w="0">
            <a:noFill/>
            <a:prstDash val="solid"/>
          </a:ln>
        </p:spPr>
        <p:txBody>
          <a:bodyPr lIns="0" tIns="0" rIns="0" bIns="0" anchor="t"/>
          <a:lstStyle>
            <a:defPPr>
              <a:defRPr sz="1200" b="0">
                <a:solidFill>
                  <a:srgbClr val="586A70"/>
                </a:solidFill>
                <a:latin typeface="Arial"/>
                <a:ea typeface="Arial"/>
                <a:cs typeface="Arial"/>
              </a:defRPr>
            </a:defPPr>
          </a:lstStyle>
          <a:p>
            <a:pPr>
              <a:defRPr sz="1200" b="0">
                <a:solidFill>
                  <a:srgbClr val="586A70"/>
                </a:solidFill>
                <a:latin typeface="Arial"/>
                <a:ea typeface="Arial"/>
                <a:cs typeface="Arial"/>
              </a:defRPr>
            </a:pPr>
            <a:r>
              <a:rPr sz="1200" b="0">
                <a:solidFill>
                  <a:srgbClr val="586A70"/>
                </a:solidFill>
                <a:latin typeface="Arial"/>
                <a:ea typeface="Arial"/>
                <a:cs typeface="Arial"/>
              </a:rPr>
              <a:t>09</a:t>
            </a:r>
          </a:p>
        </p:txBody>
      </p:sp>
      <p:sp>
        <p:nvSpPr>
          <p:cNvPr id="4" name="Rectangle 3">
            <a:extLst>
              <a:ext uri="{FF2B5EF4-FFF2-40B4-BE49-F238E27FC236}">
                <a16:creationId xmlns:a16="http://schemas.microsoft.com/office/drawing/2014/main" id="{EAD3F0E4-F571-4453-AAE9-1163AED53714}"/>
              </a:ext>
            </a:extLst>
          </p:cNvPr>
          <p:cNvSpPr>
            <a:spLocks noGrp="1"/>
          </p:cNvSpPr>
          <p:nvPr/>
        </p:nvSpPr>
        <p:spPr>
          <a:xfrm>
            <a:off x="609600" y="1679067"/>
            <a:ext cx="2190750" cy="845820"/>
          </a:xfrm>
          <a:prstGeom prst="rect">
            <a:avLst/>
          </a:prstGeom>
          <a:noFill/>
          <a:ln w="0">
            <a:noFill/>
            <a:prstDash val="solid"/>
          </a:ln>
        </p:spPr>
        <p:txBody>
          <a:bodyPr lIns="0" tIns="0" rIns="0" bIns="0" anchor="t"/>
          <a:lstStyle>
            <a:defPPr>
              <a:defRPr sz="5880" b="1">
                <a:solidFill>
                  <a:srgbClr val="16786D"/>
                </a:solidFill>
                <a:latin typeface="Arial"/>
                <a:ea typeface="Arial"/>
                <a:cs typeface="Arial"/>
              </a:defRPr>
            </a:defPPr>
          </a:lstStyle>
          <a:p>
            <a:pPr>
              <a:defRPr sz="5880" b="1">
                <a:solidFill>
                  <a:srgbClr val="16786D"/>
                </a:solidFill>
                <a:latin typeface="Arial"/>
                <a:ea typeface="Arial"/>
                <a:cs typeface="Arial"/>
              </a:defRPr>
            </a:pPr>
            <a:r>
              <a:rPr sz="5880" b="1">
                <a:solidFill>
                  <a:srgbClr val="16786D"/>
                </a:solidFill>
                <a:latin typeface="Arial"/>
                <a:ea typeface="Arial"/>
                <a:cs typeface="Arial"/>
              </a:rPr>
              <a:t>12</a:t>
            </a:r>
          </a:p>
        </p:txBody>
      </p:sp>
      <p:sp>
        <p:nvSpPr>
          <p:cNvPr id="5" name="Rectangle 4">
            <a:extLst>
              <a:ext uri="{FF2B5EF4-FFF2-40B4-BE49-F238E27FC236}">
                <a16:creationId xmlns:a16="http://schemas.microsoft.com/office/drawing/2014/main" id="{D57A875C-757E-4B36-8960-9A0BB401DDF4}"/>
              </a:ext>
            </a:extLst>
          </p:cNvPr>
          <p:cNvSpPr>
            <a:spLocks noGrp="1"/>
          </p:cNvSpPr>
          <p:nvPr/>
        </p:nvSpPr>
        <p:spPr>
          <a:xfrm>
            <a:off x="609600" y="2581275"/>
            <a:ext cx="2800350" cy="620268"/>
          </a:xfrm>
          <a:prstGeom prst="rect">
            <a:avLst/>
          </a:prstGeom>
          <a:noFill/>
          <a:ln w="0">
            <a:noFill/>
            <a:prstDash val="solid"/>
          </a:ln>
        </p:spPr>
        <p:txBody>
          <a:bodyPr lIns="0" tIns="0" rIns="0" bIns="0" anchor="t"/>
          <a:lstStyle>
            <a:defPPr>
              <a:defRPr sz="1560" b="1">
                <a:solidFill>
                  <a:srgbClr val="152D38"/>
                </a:solidFill>
                <a:latin typeface="Arial"/>
                <a:ea typeface="Arial"/>
                <a:cs typeface="Arial"/>
              </a:defRPr>
            </a:defPPr>
          </a:lstStyle>
          <a:p>
            <a:pPr>
              <a:defRPr sz="1560" b="1">
                <a:solidFill>
                  <a:srgbClr val="152D38"/>
                </a:solidFill>
                <a:latin typeface="Arial"/>
                <a:ea typeface="Arial"/>
                <a:cs typeface="Arial"/>
              </a:defRPr>
            </a:pPr>
            <a:r>
              <a:rPr sz="1560" b="1">
                <a:solidFill>
                  <a:srgbClr val="152D38"/>
                </a:solidFill>
                <a:latin typeface="Arial"/>
                <a:ea typeface="Arial"/>
                <a:cs typeface="Arial"/>
              </a:rPr>
              <a:t>scenario groups</a:t>
            </a:r>
          </a:p>
          <a:p>
            <a:pPr>
              <a:defRPr sz="1560" b="1">
                <a:solidFill>
                  <a:srgbClr val="152D38"/>
                </a:solidFill>
                <a:latin typeface="Arial"/>
                <a:ea typeface="Arial"/>
                <a:cs typeface="Arial"/>
              </a:defRPr>
            </a:pPr>
            <a:r>
              <a:rPr sz="1560" b="1">
                <a:solidFill>
                  <a:srgbClr val="152D38"/>
                </a:solidFill>
                <a:latin typeface="Arial"/>
                <a:ea typeface="Arial"/>
                <a:cs typeface="Arial"/>
              </a:rPr>
              <a:t>passed in the report</a:t>
            </a:r>
          </a:p>
        </p:txBody>
      </p:sp>
      <p:sp>
        <p:nvSpPr>
          <p:cNvPr id="6" name="Rectangle 5">
            <a:extLst>
              <a:ext uri="{FF2B5EF4-FFF2-40B4-BE49-F238E27FC236}">
                <a16:creationId xmlns:a16="http://schemas.microsoft.com/office/drawing/2014/main" id="{BFCDC3A2-2F80-4504-A0FF-E13B951F275C}"/>
              </a:ext>
            </a:extLst>
          </p:cNvPr>
          <p:cNvSpPr>
            <a:spLocks noGrp="1"/>
          </p:cNvSpPr>
          <p:nvPr/>
        </p:nvSpPr>
        <p:spPr>
          <a:xfrm>
            <a:off x="609600" y="3511677"/>
            <a:ext cx="2800350" cy="824674"/>
          </a:xfrm>
          <a:prstGeom prst="rect">
            <a:avLst/>
          </a:prstGeom>
          <a:noFill/>
          <a:ln w="0">
            <a:noFill/>
            <a:prstDash val="solid"/>
          </a:ln>
        </p:spPr>
        <p:txBody>
          <a:bodyPr lIns="0" tIns="0" rIns="0" bIns="0" anchor="t"/>
          <a:lstStyle>
            <a:defPPr>
              <a:defRPr sz="1500" b="0">
                <a:solidFill>
                  <a:srgbClr val="586A70"/>
                </a:solidFill>
                <a:latin typeface="Arial"/>
                <a:ea typeface="Arial"/>
                <a:cs typeface="Arial"/>
              </a:defRPr>
            </a:defPPr>
          </a:lstStyle>
          <a:p>
            <a:pPr>
              <a:defRPr sz="1500" b="0">
                <a:solidFill>
                  <a:srgbClr val="586A70"/>
                </a:solidFill>
                <a:latin typeface="Arial"/>
                <a:ea typeface="Arial"/>
                <a:cs typeface="Arial"/>
              </a:defRPr>
            </a:pPr>
            <a:r>
              <a:rPr sz="1500" b="0">
                <a:solidFill>
                  <a:srgbClr val="586A70"/>
                </a:solidFill>
                <a:latin typeface="Arial"/>
                <a:ea typeface="Arial"/>
                <a:cs typeface="Arial"/>
              </a:rPr>
              <a:t>Native, trace, API</a:t>
            </a:r>
          </a:p>
          <a:p>
            <a:pPr>
              <a:defRPr sz="1500" b="0">
                <a:solidFill>
                  <a:srgbClr val="586A70"/>
                </a:solidFill>
                <a:latin typeface="Arial"/>
                <a:ea typeface="Arial"/>
                <a:cs typeface="Arial"/>
              </a:defRPr>
            </a:pPr>
            <a:r>
              <a:rPr sz="1500" b="0">
                <a:solidFill>
                  <a:srgbClr val="586A70"/>
                </a:solidFill>
                <a:latin typeface="Arial"/>
                <a:ea typeface="Arial"/>
                <a:cs typeface="Arial"/>
              </a:rPr>
              <a:t>and frontend checks</a:t>
            </a:r>
          </a:p>
          <a:p>
            <a:pPr>
              <a:defRPr sz="1500" b="0">
                <a:solidFill>
                  <a:srgbClr val="586A70"/>
                </a:solidFill>
                <a:latin typeface="Arial"/>
                <a:ea typeface="Arial"/>
                <a:cs typeface="Arial"/>
              </a:defRPr>
            </a:pPr>
            <a:r>
              <a:rPr sz="1500" b="0">
                <a:solidFill>
                  <a:srgbClr val="586A70"/>
                </a:solidFill>
                <a:latin typeface="Arial"/>
                <a:ea typeface="Arial"/>
                <a:cs typeface="Arial"/>
              </a:rPr>
              <a:t>also passed.</a:t>
            </a:r>
          </a:p>
        </p:txBody>
      </p:sp>
      <p:sp>
        <p:nvSpPr>
          <p:cNvPr id="7" name="Rectangle 6">
            <a:extLst>
              <a:ext uri="{FF2B5EF4-FFF2-40B4-BE49-F238E27FC236}">
                <a16:creationId xmlns:a16="http://schemas.microsoft.com/office/drawing/2014/main" id="{6F9D9669-B0F9-4012-86E4-D31CBEF947AD}"/>
              </a:ext>
            </a:extLst>
          </p:cNvPr>
          <p:cNvSpPr>
            <a:spLocks noGrp="1"/>
          </p:cNvSpPr>
          <p:nvPr/>
        </p:nvSpPr>
        <p:spPr>
          <a:xfrm>
            <a:off x="3562350" y="1735455"/>
            <a:ext cx="8020050" cy="3030855"/>
          </a:xfrm>
          <a:prstGeom prst="rect">
            <a:avLst/>
          </a:prstGeom>
          <a:solidFill>
            <a:srgbClr val="FFFFFF"/>
          </a:solidFill>
          <a:ln w="0">
            <a:noFill/>
            <a:prstDash val="solid"/>
          </a:ln>
        </p:spPr>
      </p:sp>
      <p:pic>
        <p:nvPicPr>
          <p:cNvPr id="8" name="Picture 7">
            <a:extLst>
              <a:ext uri="{FF2B5EF4-FFF2-40B4-BE49-F238E27FC236}">
                <a16:creationId xmlns:a16="http://schemas.microsoft.com/office/drawing/2014/main" id="{78560B0D-D777-4F9D-8181-E66F63295068}"/>
              </a:ext>
            </a:extLst>
          </p:cNvPr>
          <p:cNvPicPr>
            <a:picLocks noChangeAspect="1"/>
          </p:cNvPicPr>
          <p:nvPr/>
        </p:nvPicPr>
        <p:blipFill>
          <a:blip r:embed="rId3"/>
          <a:stretch/>
        </p:blipFill>
        <p:spPr>
          <a:xfrm>
            <a:off x="4861588" y="1848231"/>
            <a:ext cx="5421573" cy="2833497"/>
          </a:xfrm>
          <a:prstGeom prst="rect">
            <a:avLst/>
          </a:prstGeom>
        </p:spPr>
      </p:pic>
      <p:sp>
        <p:nvSpPr>
          <p:cNvPr id="9" name="Rectangle 8">
            <a:extLst>
              <a:ext uri="{FF2B5EF4-FFF2-40B4-BE49-F238E27FC236}">
                <a16:creationId xmlns:a16="http://schemas.microsoft.com/office/drawing/2014/main" id="{E675140A-0FD4-4FDB-AF00-9F3F008E41AE}"/>
              </a:ext>
            </a:extLst>
          </p:cNvPr>
          <p:cNvSpPr>
            <a:spLocks noGrp="1"/>
          </p:cNvSpPr>
          <p:nvPr/>
        </p:nvSpPr>
        <p:spPr>
          <a:xfrm>
            <a:off x="3714750" y="4766310"/>
            <a:ext cx="7715250" cy="211455"/>
          </a:xfrm>
          <a:prstGeom prst="rect">
            <a:avLst/>
          </a:prstGeom>
          <a:noFill/>
          <a:ln w="0">
            <a:noFill/>
            <a:prstDash val="solid"/>
          </a:ln>
        </p:spPr>
        <p:txBody>
          <a:bodyPr lIns="0" tIns="0" rIns="0" bIns="0" anchor="t"/>
          <a:lstStyle>
            <a:defPPr>
              <a:defRPr sz="1260" b="1">
                <a:solidFill>
                  <a:srgbClr val="16786D"/>
                </a:solidFill>
                <a:latin typeface="Arial"/>
                <a:ea typeface="Arial"/>
                <a:cs typeface="Arial"/>
              </a:defRPr>
            </a:defPPr>
          </a:lstStyle>
          <a:p>
            <a:pPr>
              <a:defRPr sz="1260" b="1">
                <a:solidFill>
                  <a:srgbClr val="16786D"/>
                </a:solidFill>
                <a:latin typeface="Arial"/>
                <a:ea typeface="Arial"/>
                <a:cs typeface="Arial"/>
              </a:defRPr>
            </a:pPr>
            <a:r>
              <a:rPr sz="1260" b="1">
                <a:solidFill>
                  <a:srgbClr val="16786D"/>
                </a:solidFill>
                <a:latin typeface="Arial"/>
                <a:ea typeface="Arial"/>
                <a:cs typeface="Arial"/>
              </a:rPr>
              <a:t>Guided run: five nodes in A, empty B</a:t>
            </a:r>
          </a:p>
        </p:txBody>
      </p:sp>
      <p:sp>
        <p:nvSpPr>
          <p:cNvPr id="10" name="Rectangle 9">
            <a:extLst>
              <a:ext uri="{FF2B5EF4-FFF2-40B4-BE49-F238E27FC236}">
                <a16:creationId xmlns:a16="http://schemas.microsoft.com/office/drawing/2014/main" id="{A6642D0E-C50B-488F-B060-D6F4621FF719}"/>
              </a:ext>
            </a:extLst>
          </p:cNvPr>
          <p:cNvSpPr>
            <a:spLocks noGrp="1"/>
          </p:cNvSpPr>
          <p:nvPr/>
        </p:nvSpPr>
        <p:spPr>
          <a:xfrm>
            <a:off x="609600" y="5062347"/>
            <a:ext cx="10287000" cy="225552"/>
          </a:xfrm>
          <a:prstGeom prst="rect">
            <a:avLst/>
          </a:prstGeom>
          <a:noFill/>
          <a:ln w="0">
            <a:noFill/>
            <a:prstDash val="solid"/>
          </a:ln>
        </p:spPr>
        <p:txBody>
          <a:bodyPr lIns="0" tIns="0" rIns="0" bIns="0" anchor="t"/>
          <a:lstStyle>
            <a:defPPr>
              <a:defRPr sz="1320" b="0">
                <a:solidFill>
                  <a:srgbClr val="586A70"/>
                </a:solidFill>
                <a:latin typeface="Arial"/>
                <a:ea typeface="Arial"/>
                <a:cs typeface="Arial"/>
              </a:defRPr>
            </a:defPPr>
          </a:lstStyle>
          <a:p>
            <a:pPr>
              <a:defRPr sz="1320" b="0">
                <a:solidFill>
                  <a:srgbClr val="586A70"/>
                </a:solidFill>
                <a:latin typeface="Arial"/>
                <a:ea typeface="Arial"/>
                <a:cs typeface="Arial"/>
              </a:defRPr>
            </a:pPr>
            <a:r>
              <a:rPr sz="1320" b="0">
                <a:solidFill>
                  <a:srgbClr val="586A70"/>
                </a:solidFill>
                <a:latin typeface="Arial"/>
                <a:ea typeface="Arial"/>
                <a:cs typeface="Arial"/>
              </a:rPr>
              <a:t>Known UI limitation: replay keyboard focus still needs a fix.</a:t>
            </a:r>
          </a:p>
        </p:txBody>
      </p:sp>
      <p:sp>
        <p:nvSpPr>
          <p:cNvPr id="12" name="Presentation explanation">
            <a:extLst>
              <a:ext uri="{FF2B5EF4-FFF2-40B4-BE49-F238E27FC236}">
                <a16:creationId xmlns:a16="http://schemas.microsoft.com/office/drawing/2014/main" id="{C96D7F89-555C-419B-A38C-644B01E269A8}"/>
              </a:ext>
            </a:extLst>
          </p:cNvPr>
          <p:cNvSpPr>
            <a:spLocks noGrp="1"/>
          </p:cNvSpPr>
          <p:nvPr/>
        </p:nvSpPr>
        <p:spPr>
          <a:xfrm>
            <a:off x="609600" y="5534025"/>
            <a:ext cx="10972800" cy="1000125"/>
          </a:xfrm>
          <a:prstGeom prst="rect">
            <a:avLst/>
          </a:prstGeom>
          <a:noFill/>
          <a:ln w="0">
            <a:noFill/>
          </a:ln>
        </p:spPr>
        <p:txBody>
          <a:bodyPr lIns="0" tIns="0" rIns="0" bIns="0" anchor="t"/>
          <a:lstStyle>
            <a:defPPr>
              <a:defRPr sz="1800">
                <a:solidFill>
                  <a:srgbClr val="152D38"/>
                </a:solidFill>
                <a:latin typeface="Arial"/>
                <a:ea typeface="Arial"/>
                <a:cs typeface="Arial"/>
              </a:defRPr>
            </a:defPPr>
          </a:lstStyle>
          <a:p>
            <a:pPr>
              <a:defRPr sz="1800">
                <a:solidFill>
                  <a:srgbClr val="152D38"/>
                </a:solidFill>
                <a:latin typeface="Arial"/>
                <a:ea typeface="Arial"/>
                <a:cs typeface="Arial"/>
              </a:defRPr>
            </a:pPr>
            <a:r>
              <a:rPr sz="1800">
                <a:solidFill>
                  <a:srgbClr val="152D38"/>
                </a:solidFill>
                <a:latin typeface="Arial"/>
                <a:ea typeface="Arial"/>
                <a:cs typeface="Arial"/>
              </a:rPr>
              <a:t>The report records twelve passing scenario groups, along with native, trace, API and frontend checks. These cover normal operations and boundary cases. A remaining limitation is keyboard focus during replay, which needs a fix and another browser test.</a:t>
            </a:r>
          </a:p>
        </p:txBody>
      </p:sp>
    </p:spTree>
    <p:extLst>
      <p:ext uri="{BB962C8B-B14F-4D97-AF65-F5344CB8AC3E}">
        <p14:creationId xmlns:p14="http://schemas.microsoft.com/office/powerpoint/2010/main" val="8715198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52D38"/>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092B526-FF04-4345-8CE5-385076BDD50C}"/>
              </a:ext>
            </a:extLst>
          </p:cNvPr>
          <p:cNvSpPr>
            <a:spLocks noGrp="1"/>
          </p:cNvSpPr>
          <p:nvPr/>
        </p:nvSpPr>
        <p:spPr>
          <a:xfrm>
            <a:off x="609600" y="495300"/>
            <a:ext cx="10953750" cy="666750"/>
          </a:xfrm>
          <a:prstGeom prst="rect">
            <a:avLst/>
          </a:prstGeom>
          <a:noFill/>
          <a:ln w="0">
            <a:noFill/>
            <a:prstDash val="solid"/>
          </a:ln>
        </p:spPr>
        <p:txBody>
          <a:bodyPr lIns="0" tIns="0" rIns="0" bIns="0" anchor="t"/>
          <a:lstStyle>
            <a:defPPr>
              <a:defRPr sz="3300" b="1">
                <a:solidFill>
                  <a:srgbClr val="FFFFFF"/>
                </a:solidFill>
                <a:latin typeface="Arial"/>
                <a:ea typeface="Arial"/>
                <a:cs typeface="Arial"/>
              </a:defRPr>
            </a:defPPr>
          </a:lstStyle>
          <a:p>
            <a:pPr>
              <a:defRPr sz="3300" b="1">
                <a:solidFill>
                  <a:srgbClr val="FFFFFF"/>
                </a:solidFill>
                <a:latin typeface="Arial"/>
                <a:ea typeface="Arial"/>
                <a:cs typeface="Arial"/>
              </a:defRPr>
            </a:pPr>
            <a:r>
              <a:rPr sz="3300" b="1">
                <a:solidFill>
                  <a:srgbClr val="FFFFFF"/>
                </a:solidFill>
                <a:latin typeface="Arial"/>
                <a:ea typeface="Arial"/>
                <a:cs typeface="Arial"/>
              </a:rPr>
              <a:t>Conclusion &amp; next step</a:t>
            </a:r>
          </a:p>
        </p:txBody>
      </p:sp>
      <p:sp>
        <p:nvSpPr>
          <p:cNvPr id="2" name="Rectangle 1">
            <a:extLst>
              <a:ext uri="{FF2B5EF4-FFF2-40B4-BE49-F238E27FC236}">
                <a16:creationId xmlns:a16="http://schemas.microsoft.com/office/drawing/2014/main" id="{BD1C8617-FF59-438E-95CA-8BA72F00E474}"/>
              </a:ext>
            </a:extLst>
          </p:cNvPr>
          <p:cNvSpPr>
            <a:spLocks noGrp="1"/>
          </p:cNvSpPr>
          <p:nvPr/>
        </p:nvSpPr>
        <p:spPr>
          <a:xfrm>
            <a:off x="609600" y="1314450"/>
            <a:ext cx="609600" cy="38100"/>
          </a:xfrm>
          <a:prstGeom prst="rect">
            <a:avLst/>
          </a:prstGeom>
          <a:solidFill>
            <a:srgbClr val="16786D"/>
          </a:solidFill>
          <a:ln w="0">
            <a:noFill/>
            <a:prstDash val="solid"/>
          </a:ln>
        </p:spPr>
      </p:sp>
      <p:sp>
        <p:nvSpPr>
          <p:cNvPr id="3" name="Rectangle 2">
            <a:extLst>
              <a:ext uri="{FF2B5EF4-FFF2-40B4-BE49-F238E27FC236}">
                <a16:creationId xmlns:a16="http://schemas.microsoft.com/office/drawing/2014/main" id="{FE6E390D-BB58-47F0-9452-C4E89A4EFE9D}"/>
              </a:ext>
            </a:extLst>
          </p:cNvPr>
          <p:cNvSpPr>
            <a:spLocks noGrp="1"/>
          </p:cNvSpPr>
          <p:nvPr/>
        </p:nvSpPr>
        <p:spPr>
          <a:xfrm>
            <a:off x="11125200" y="6629400"/>
            <a:ext cx="476250" cy="228600"/>
          </a:xfrm>
          <a:prstGeom prst="rect">
            <a:avLst/>
          </a:prstGeom>
          <a:noFill/>
          <a:ln w="0">
            <a:noFill/>
            <a:prstDash val="solid"/>
          </a:ln>
        </p:spPr>
        <p:txBody>
          <a:bodyPr lIns="0" tIns="0" rIns="0" bIns="0" anchor="t"/>
          <a:lstStyle>
            <a:defPPr>
              <a:defRPr sz="1200" b="0">
                <a:solidFill>
                  <a:srgbClr val="9AAEB5"/>
                </a:solidFill>
                <a:latin typeface="Arial"/>
                <a:ea typeface="Arial"/>
                <a:cs typeface="Arial"/>
              </a:defRPr>
            </a:defPPr>
          </a:lstStyle>
          <a:p>
            <a:pPr>
              <a:defRPr sz="1200" b="0">
                <a:solidFill>
                  <a:srgbClr val="9AAEB5"/>
                </a:solidFill>
                <a:latin typeface="Arial"/>
                <a:ea typeface="Arial"/>
                <a:cs typeface="Arial"/>
              </a:defRPr>
            </a:pPr>
            <a:r>
              <a:rPr sz="1200" b="0">
                <a:solidFill>
                  <a:srgbClr val="9AAEB5"/>
                </a:solidFill>
                <a:latin typeface="Arial"/>
                <a:ea typeface="Arial"/>
                <a:cs typeface="Arial"/>
              </a:rPr>
              <a:t>10</a:t>
            </a:r>
          </a:p>
        </p:txBody>
      </p:sp>
      <p:sp>
        <p:nvSpPr>
          <p:cNvPr id="4" name="Rectangle 3">
            <a:extLst>
              <a:ext uri="{FF2B5EF4-FFF2-40B4-BE49-F238E27FC236}">
                <a16:creationId xmlns:a16="http://schemas.microsoft.com/office/drawing/2014/main" id="{8CEB3EA3-5541-4EDF-AAD9-52735C17E35C}"/>
              </a:ext>
            </a:extLst>
          </p:cNvPr>
          <p:cNvSpPr>
            <a:spLocks noGrp="1"/>
          </p:cNvSpPr>
          <p:nvPr/>
        </p:nvSpPr>
        <p:spPr>
          <a:xfrm>
            <a:off x="609600" y="1749552"/>
            <a:ext cx="10972800" cy="1367409"/>
          </a:xfrm>
          <a:prstGeom prst="rect">
            <a:avLst/>
          </a:prstGeom>
          <a:noFill/>
          <a:ln w="0">
            <a:noFill/>
            <a:prstDash val="solid"/>
          </a:ln>
        </p:spPr>
        <p:txBody>
          <a:bodyPr lIns="0" tIns="0" rIns="0" bIns="0" anchor="t"/>
          <a:lstStyle>
            <a:defPPr>
              <a:defRPr sz="2580" b="1">
                <a:solidFill>
                  <a:srgbClr val="FFFFFF"/>
                </a:solidFill>
                <a:latin typeface="Arial"/>
                <a:ea typeface="Arial"/>
                <a:cs typeface="Arial"/>
              </a:defRPr>
            </a:defPPr>
          </a:lstStyle>
          <a:p>
            <a:pPr>
              <a:defRPr sz="2580" b="1">
                <a:solidFill>
                  <a:srgbClr val="FFFFFF"/>
                </a:solidFill>
                <a:latin typeface="Arial"/>
                <a:ea typeface="Arial"/>
                <a:cs typeface="Arial"/>
              </a:defRPr>
            </a:pPr>
            <a:r>
              <a:rPr sz="2580" b="1">
                <a:solidFill>
                  <a:srgbClr val="FFFFFF"/>
                </a:solidFill>
                <a:latin typeface="Arial"/>
                <a:ea typeface="Arial"/>
                <a:cs typeface="Arial"/>
              </a:rPr>
              <a:t>The project connects playlist</a:t>
            </a:r>
          </a:p>
          <a:p>
            <a:pPr>
              <a:defRPr sz="2580" b="1">
                <a:solidFill>
                  <a:srgbClr val="FFFFFF"/>
                </a:solidFill>
                <a:latin typeface="Arial"/>
                <a:ea typeface="Arial"/>
                <a:cs typeface="Arial"/>
              </a:defRPr>
            </a:pPr>
            <a:r>
              <a:rPr sz="2580" b="1">
                <a:solidFill>
                  <a:srgbClr val="FFFFFF"/>
                </a:solidFill>
                <a:latin typeface="Arial"/>
                <a:ea typeface="Arial"/>
                <a:cs typeface="Arial"/>
              </a:rPr>
              <a:t>behaviour with linked-list</a:t>
            </a:r>
          </a:p>
          <a:p>
            <a:pPr>
              <a:defRPr sz="2580" b="1">
                <a:solidFill>
                  <a:srgbClr val="FFFFFF"/>
                </a:solidFill>
                <a:latin typeface="Arial"/>
                <a:ea typeface="Arial"/>
                <a:cs typeface="Arial"/>
              </a:defRPr>
            </a:pPr>
            <a:r>
              <a:rPr sz="2580" b="1">
                <a:solidFill>
                  <a:srgbClr val="FFFFFF"/>
                </a:solidFill>
                <a:latin typeface="Arial"/>
                <a:ea typeface="Arial"/>
                <a:cs typeface="Arial"/>
              </a:rPr>
              <a:t>operations and memory ownership.</a:t>
            </a:r>
          </a:p>
        </p:txBody>
      </p:sp>
      <p:sp>
        <p:nvSpPr>
          <p:cNvPr id="5" name="Rectangle 4">
            <a:extLst>
              <a:ext uri="{FF2B5EF4-FFF2-40B4-BE49-F238E27FC236}">
                <a16:creationId xmlns:a16="http://schemas.microsoft.com/office/drawing/2014/main" id="{29BDC3BE-B604-40E4-8390-CECB4D702174}"/>
              </a:ext>
            </a:extLst>
          </p:cNvPr>
          <p:cNvSpPr>
            <a:spLocks noGrp="1"/>
          </p:cNvSpPr>
          <p:nvPr/>
        </p:nvSpPr>
        <p:spPr>
          <a:xfrm>
            <a:off x="609600" y="3427095"/>
            <a:ext cx="10972800" cy="7048"/>
          </a:xfrm>
          <a:prstGeom prst="rect">
            <a:avLst/>
          </a:prstGeom>
          <a:solidFill>
            <a:srgbClr val="3E5560"/>
          </a:solidFill>
          <a:ln w="0">
            <a:noFill/>
            <a:prstDash val="solid"/>
          </a:ln>
        </p:spPr>
      </p:sp>
      <p:sp>
        <p:nvSpPr>
          <p:cNvPr id="6" name="Rectangle 5">
            <a:extLst>
              <a:ext uri="{FF2B5EF4-FFF2-40B4-BE49-F238E27FC236}">
                <a16:creationId xmlns:a16="http://schemas.microsoft.com/office/drawing/2014/main" id="{5040BC8D-0653-4F4A-83B4-2E0BAFC42155}"/>
              </a:ext>
            </a:extLst>
          </p:cNvPr>
          <p:cNvSpPr>
            <a:spLocks noGrp="1"/>
          </p:cNvSpPr>
          <p:nvPr/>
        </p:nvSpPr>
        <p:spPr>
          <a:xfrm>
            <a:off x="609600" y="3744277"/>
            <a:ext cx="4857750" cy="296037"/>
          </a:xfrm>
          <a:prstGeom prst="rect">
            <a:avLst/>
          </a:prstGeom>
          <a:noFill/>
          <a:ln w="0">
            <a:noFill/>
            <a:prstDash val="solid"/>
          </a:ln>
        </p:spPr>
        <p:txBody>
          <a:bodyPr lIns="0" tIns="0" rIns="0" bIns="0" anchor="t"/>
          <a:lstStyle>
            <a:defPPr>
              <a:defRPr sz="1680" b="1">
                <a:solidFill>
                  <a:srgbClr val="90C5B8"/>
                </a:solidFill>
                <a:latin typeface="Arial"/>
                <a:ea typeface="Arial"/>
                <a:cs typeface="Arial"/>
              </a:defRPr>
            </a:defPPr>
          </a:lstStyle>
          <a:p>
            <a:pPr>
              <a:defRPr sz="1680" b="1">
                <a:solidFill>
                  <a:srgbClr val="90C5B8"/>
                </a:solidFill>
                <a:latin typeface="Arial"/>
                <a:ea typeface="Arial"/>
                <a:cs typeface="Arial"/>
              </a:defRPr>
            </a:pPr>
            <a:r>
              <a:rPr sz="1680" b="1">
                <a:solidFill>
                  <a:srgbClr val="90C5B8"/>
                </a:solidFill>
                <a:latin typeface="Arial"/>
                <a:ea typeface="Arial"/>
                <a:cs typeface="Arial"/>
              </a:rPr>
              <a:t>Current scope</a:t>
            </a:r>
          </a:p>
        </p:txBody>
      </p:sp>
      <p:sp>
        <p:nvSpPr>
          <p:cNvPr id="7" name="Rectangle 6">
            <a:extLst>
              <a:ext uri="{FF2B5EF4-FFF2-40B4-BE49-F238E27FC236}">
                <a16:creationId xmlns:a16="http://schemas.microsoft.com/office/drawing/2014/main" id="{8DFE3E21-A23F-4C7E-9C53-A8B095A2A347}"/>
              </a:ext>
            </a:extLst>
          </p:cNvPr>
          <p:cNvSpPr>
            <a:spLocks noGrp="1"/>
          </p:cNvSpPr>
          <p:nvPr/>
        </p:nvSpPr>
        <p:spPr>
          <a:xfrm>
            <a:off x="609600" y="4153090"/>
            <a:ext cx="5334000" cy="669607"/>
          </a:xfrm>
          <a:prstGeom prst="rect">
            <a:avLst/>
          </a:prstGeom>
          <a:noFill/>
          <a:ln w="0">
            <a:noFill/>
            <a:prstDash val="solid"/>
          </a:ln>
        </p:spPr>
        <p:txBody>
          <a:bodyPr lIns="0" tIns="0" rIns="0" bIns="0" anchor="t"/>
          <a:lstStyle>
            <a:defPPr>
              <a:defRPr sz="1560" b="0">
                <a:solidFill>
                  <a:srgbClr val="D2DFE3"/>
                </a:solidFill>
                <a:latin typeface="Arial"/>
                <a:ea typeface="Arial"/>
                <a:cs typeface="Arial"/>
              </a:defRPr>
            </a:defPPr>
          </a:lstStyle>
          <a:p>
            <a:pPr>
              <a:defRPr sz="1560" b="0">
                <a:solidFill>
                  <a:srgbClr val="D2DFE3"/>
                </a:solidFill>
                <a:latin typeface="Arial"/>
                <a:ea typeface="Arial"/>
                <a:cs typeface="Arial"/>
              </a:defRPr>
            </a:pPr>
            <a:r>
              <a:rPr sz="1560" b="0">
                <a:solidFill>
                  <a:srgbClr val="D2DFE3"/>
                </a:solidFill>
                <a:latin typeface="Arial"/>
                <a:ea typeface="Arial"/>
                <a:cs typeface="Arial"/>
              </a:rPr>
              <a:t>Local, temporary playlists. No accounts,</a:t>
            </a:r>
          </a:p>
          <a:p>
            <a:pPr>
              <a:defRPr sz="1560" b="0">
                <a:solidFill>
                  <a:srgbClr val="D2DFE3"/>
                </a:solidFill>
                <a:latin typeface="Arial"/>
                <a:ea typeface="Arial"/>
                <a:cs typeface="Arial"/>
              </a:defRPr>
            </a:pPr>
            <a:r>
              <a:rPr sz="1560" b="0">
                <a:solidFill>
                  <a:srgbClr val="D2DFE3"/>
                </a:solidFill>
                <a:latin typeface="Arial"/>
                <a:ea typeface="Arial"/>
                <a:cs typeface="Arial"/>
              </a:rPr>
              <a:t>streaming or persistent catalogue.</a:t>
            </a:r>
          </a:p>
        </p:txBody>
      </p:sp>
      <p:sp>
        <p:nvSpPr>
          <p:cNvPr id="8" name="Rectangle 7">
            <a:extLst>
              <a:ext uri="{FF2B5EF4-FFF2-40B4-BE49-F238E27FC236}">
                <a16:creationId xmlns:a16="http://schemas.microsoft.com/office/drawing/2014/main" id="{4E357DBF-0A24-461F-BC55-F7CA02A91AE4}"/>
              </a:ext>
            </a:extLst>
          </p:cNvPr>
          <p:cNvSpPr>
            <a:spLocks noGrp="1"/>
          </p:cNvSpPr>
          <p:nvPr/>
        </p:nvSpPr>
        <p:spPr>
          <a:xfrm>
            <a:off x="6705600" y="3744277"/>
            <a:ext cx="4876800" cy="296037"/>
          </a:xfrm>
          <a:prstGeom prst="rect">
            <a:avLst/>
          </a:prstGeom>
          <a:noFill/>
          <a:ln w="0">
            <a:noFill/>
            <a:prstDash val="solid"/>
          </a:ln>
        </p:spPr>
        <p:txBody>
          <a:bodyPr lIns="0" tIns="0" rIns="0" bIns="0" anchor="t"/>
          <a:lstStyle>
            <a:defPPr>
              <a:defRPr sz="1680" b="1">
                <a:solidFill>
                  <a:srgbClr val="90C5B8"/>
                </a:solidFill>
                <a:latin typeface="Arial"/>
                <a:ea typeface="Arial"/>
                <a:cs typeface="Arial"/>
              </a:defRPr>
            </a:defPPr>
          </a:lstStyle>
          <a:p>
            <a:pPr>
              <a:defRPr sz="1680" b="1">
                <a:solidFill>
                  <a:srgbClr val="90C5B8"/>
                </a:solidFill>
                <a:latin typeface="Arial"/>
                <a:ea typeface="Arial"/>
                <a:cs typeface="Arial"/>
              </a:defRPr>
            </a:pPr>
            <a:r>
              <a:rPr sz="1680" b="1">
                <a:solidFill>
                  <a:srgbClr val="90C5B8"/>
                </a:solidFill>
                <a:latin typeface="Arial"/>
                <a:ea typeface="Arial"/>
                <a:cs typeface="Arial"/>
              </a:rPr>
              <a:t>Next step</a:t>
            </a:r>
          </a:p>
        </p:txBody>
      </p:sp>
      <p:sp>
        <p:nvSpPr>
          <p:cNvPr id="9" name="Rectangle 8">
            <a:extLst>
              <a:ext uri="{FF2B5EF4-FFF2-40B4-BE49-F238E27FC236}">
                <a16:creationId xmlns:a16="http://schemas.microsoft.com/office/drawing/2014/main" id="{77241191-6595-4806-A451-BCF8EFF25425}"/>
              </a:ext>
            </a:extLst>
          </p:cNvPr>
          <p:cNvSpPr>
            <a:spLocks noGrp="1"/>
          </p:cNvSpPr>
          <p:nvPr/>
        </p:nvSpPr>
        <p:spPr>
          <a:xfrm>
            <a:off x="6705600" y="4153090"/>
            <a:ext cx="4876800" cy="669607"/>
          </a:xfrm>
          <a:prstGeom prst="rect">
            <a:avLst/>
          </a:prstGeom>
          <a:noFill/>
          <a:ln w="0">
            <a:noFill/>
            <a:prstDash val="solid"/>
          </a:ln>
        </p:spPr>
        <p:txBody>
          <a:bodyPr lIns="0" tIns="0" rIns="0" bIns="0" anchor="t"/>
          <a:lstStyle>
            <a:defPPr>
              <a:defRPr sz="1560" b="0">
                <a:solidFill>
                  <a:srgbClr val="D2DFE3"/>
                </a:solidFill>
                <a:latin typeface="Arial"/>
                <a:ea typeface="Arial"/>
                <a:cs typeface="Arial"/>
              </a:defRPr>
            </a:defPPr>
          </a:lstStyle>
          <a:p>
            <a:pPr>
              <a:defRPr sz="1560" b="0">
                <a:solidFill>
                  <a:srgbClr val="D2DFE3"/>
                </a:solidFill>
                <a:latin typeface="Arial"/>
                <a:ea typeface="Arial"/>
                <a:cs typeface="Arial"/>
              </a:defRPr>
            </a:pPr>
            <a:r>
              <a:rPr sz="1560" b="0">
                <a:solidFill>
                  <a:srgbClr val="D2DFE3"/>
                </a:solidFill>
                <a:latin typeface="Arial"/>
                <a:ea typeface="Arial"/>
                <a:cs typeface="Arial"/>
              </a:rPr>
              <a:t>Fix replay keyboard focus, then</a:t>
            </a:r>
          </a:p>
          <a:p>
            <a:pPr>
              <a:defRPr sz="1560" b="0">
                <a:solidFill>
                  <a:srgbClr val="D2DFE3"/>
                </a:solidFill>
                <a:latin typeface="Arial"/>
                <a:ea typeface="Arial"/>
                <a:cs typeface="Arial"/>
              </a:defRPr>
            </a:pPr>
            <a:r>
              <a:rPr sz="1560" b="0">
                <a:solidFill>
                  <a:srgbClr val="D2DFE3"/>
                </a:solidFill>
                <a:latin typeface="Arial"/>
                <a:ea typeface="Arial"/>
                <a:cs typeface="Arial"/>
              </a:rPr>
              <a:t>repeat browser testing.</a:t>
            </a:r>
          </a:p>
        </p:txBody>
      </p:sp>
      <p:sp>
        <p:nvSpPr>
          <p:cNvPr id="10" name="Rectangle 9">
            <a:extLst>
              <a:ext uri="{FF2B5EF4-FFF2-40B4-BE49-F238E27FC236}">
                <a16:creationId xmlns:a16="http://schemas.microsoft.com/office/drawing/2014/main" id="{960AB0E2-9D1F-4170-BDD9-A5011DC3DCFE}"/>
              </a:ext>
            </a:extLst>
          </p:cNvPr>
          <p:cNvSpPr>
            <a:spLocks noGrp="1"/>
          </p:cNvSpPr>
          <p:nvPr/>
        </p:nvSpPr>
        <p:spPr>
          <a:xfrm>
            <a:off x="609600" y="5083492"/>
            <a:ext cx="10001250" cy="197358"/>
          </a:xfrm>
          <a:prstGeom prst="rect">
            <a:avLst/>
          </a:prstGeom>
          <a:noFill/>
          <a:ln w="0">
            <a:noFill/>
            <a:prstDash val="solid"/>
          </a:ln>
        </p:spPr>
        <p:txBody>
          <a:bodyPr lIns="0" tIns="0" rIns="0" bIns="0" anchor="t"/>
          <a:lstStyle>
            <a:defPPr>
              <a:defRPr sz="1140" b="0">
                <a:solidFill>
                  <a:srgbClr val="90C5B8"/>
                </a:solidFill>
                <a:latin typeface="Arial"/>
                <a:ea typeface="Arial"/>
                <a:cs typeface="Arial"/>
              </a:defRPr>
            </a:defPPr>
          </a:lstStyle>
          <a:p>
            <a:pPr>
              <a:defRPr sz="1140" b="0">
                <a:solidFill>
                  <a:srgbClr val="90C5B8"/>
                </a:solidFill>
                <a:latin typeface="Arial"/>
                <a:ea typeface="Arial"/>
                <a:cs typeface="Arial"/>
              </a:defRPr>
            </a:pPr>
            <a:r>
              <a:rPr sz="1140" b="0">
                <a:solidFill>
                  <a:srgbClr val="90C5B8"/>
                </a:solidFill>
                <a:latin typeface="Arial"/>
                <a:ea typeface="Arial"/>
                <a:cs typeface="Arial"/>
              </a:rPr>
              <a:t>github.com/Rajveerx11/DSAProject</a:t>
            </a:r>
          </a:p>
        </p:txBody>
      </p:sp>
      <p:sp>
        <p:nvSpPr>
          <p:cNvPr id="12" name="Presentation explanation">
            <a:extLst>
              <a:ext uri="{FF2B5EF4-FFF2-40B4-BE49-F238E27FC236}">
                <a16:creationId xmlns:a16="http://schemas.microsoft.com/office/drawing/2014/main" id="{2E63E689-7141-4507-951E-7E92B1DE6322}"/>
              </a:ext>
            </a:extLst>
          </p:cNvPr>
          <p:cNvSpPr>
            <a:spLocks noGrp="1"/>
          </p:cNvSpPr>
          <p:nvPr/>
        </p:nvSpPr>
        <p:spPr>
          <a:xfrm>
            <a:off x="609600" y="5534025"/>
            <a:ext cx="10972800" cy="1000125"/>
          </a:xfrm>
          <a:prstGeom prst="rect">
            <a:avLst/>
          </a:prstGeom>
          <a:noFill/>
          <a:ln w="0">
            <a:noFill/>
          </a:ln>
        </p:spPr>
        <p:txBody>
          <a:bodyPr lIns="0" tIns="0" rIns="0" bIns="0" anchor="t"/>
          <a:lstStyle>
            <a:defPPr>
              <a:defRPr sz="1800">
                <a:solidFill>
                  <a:srgbClr val="FFFFFF"/>
                </a:solidFill>
                <a:latin typeface="Arial"/>
                <a:ea typeface="Arial"/>
                <a:cs typeface="Arial"/>
              </a:defRPr>
            </a:defPPr>
          </a:lstStyle>
          <a:p>
            <a:pPr>
              <a:defRPr sz="1800">
                <a:solidFill>
                  <a:srgbClr val="FFFFFF"/>
                </a:solidFill>
                <a:latin typeface="Arial"/>
                <a:ea typeface="Arial"/>
                <a:cs typeface="Arial"/>
              </a:defRPr>
            </a:pPr>
            <a:r>
              <a:rPr sz="1800">
                <a:solidFill>
                  <a:srgbClr val="FFFFFF"/>
                </a:solidFill>
                <a:latin typeface="Arial"/>
                <a:ea typeface="Arial"/>
                <a:cs typeface="Arial"/>
              </a:rPr>
              <a:t>This project demonstrates how a doubly linked list supports playlist editing and navigation while keeping memory ownership clear. Its current scope is local, temporary playlists. The next step is to fix replay keyboard focus and repeat browser testing.</a:t>
            </a:r>
          </a:p>
        </p:txBody>
      </p:sp>
    </p:spTree>
    <p:extLst>
      <p:ext uri="{BB962C8B-B14F-4D97-AF65-F5344CB8AC3E}">
        <p14:creationId xmlns:p14="http://schemas.microsoft.com/office/powerpoint/2010/main" val="98169481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1167</Words>
  <Application>Microsoft Office PowerPoint</Application>
  <DocSecurity>0</DocSecurity>
  <PresentationFormat>Widescreen</PresentationFormat>
  <Paragraphs>139</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Aptos</vt: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language</cp:lastModifiedBy>
  <cp:revision>1</cp:revision>
  <dcterms:created xsi:type="dcterms:W3CDTF">2026-10-22T04:29:35Z</dcterms:created>
  <dcterms:modified xsi:type="dcterms:W3CDTF">2026-10-22T05:04:43Z</dcterms:modified>
</cp:coreProperties>
</file>